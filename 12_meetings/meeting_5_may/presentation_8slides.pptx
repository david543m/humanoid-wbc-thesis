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4526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 ·  PROGRESS MEETING  ·  MAY 5,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Control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Humanoid Robots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13232" y="2542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·  Research Positioning  ·  Work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035808"/>
            <a:ext cx="804672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3364992"/>
            <a:ext cx="804672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364992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two-layer MPC + QP-WBC framework on TALOS be rigorously evaluated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 reproducible, scenario-based protocol in MuJoCo simulation?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 ·  Thesis Deadline: August 26,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Proposed 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 Thesis  |  May 5,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" y="1005840"/>
            <a:ext cx="1234440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100584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references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" y="1417320"/>
            <a:ext cx="1234440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" y="141732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44168" y="1156716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4168" y="1570025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68680"/>
            <a:ext cx="2084832" cy="7498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81328" y="8686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CENTROIDAL MPC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81328" y="112471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Crocoddyl  ·  ~100 Hz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81328" y="136245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Centroidal dynamics / DDP solver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23744" y="1618488"/>
            <a:ext cx="0" cy="3474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16367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trajectory  ·  contact force refs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481328" y="1965960"/>
            <a:ext cx="208483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81328" y="196596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QP-WBC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81328" y="222199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Pinocchio + TSID  ·  ~1 kHz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81328" y="245973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hierarchy + contact QP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23744" y="2715768"/>
            <a:ext cx="0" cy="3474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27048" y="27340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torques  (N·m)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481328" y="3063240"/>
            <a:ext cx="2084832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81328" y="3063240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 ·  MuJoCo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81328" y="3438144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32-DoF humanoid  ·  rigid contacts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1880" y="3438144"/>
            <a:ext cx="2011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813048" y="1243584"/>
            <a:ext cx="0" cy="219456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11880" y="1243584"/>
            <a:ext cx="2011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575304" y="1197864"/>
            <a:ext cx="54864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01168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15968" y="749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Design Decisions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315968" y="1170432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15968" y="1170432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3984" y="123444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43984" y="144475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— 32-DoF torque-controlled; Pinocchio URDF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15968" y="205740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15968" y="205740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2121408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43984" y="233172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— rigid contacts, &lt;1 ms step, free licence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15968" y="2944368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15968" y="2944368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3984" y="3008376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443984" y="3218688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+ QP-WBC hierarchy — proven on Atlas, HRP-4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15968" y="3831336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15968" y="3831336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43984" y="3895344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443984" y="4105656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eval protocol: S1–S5 + standard metrics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Three Paradigms in Whole-Body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 Thesis  |  May 5,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58952"/>
            <a:ext cx="27889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589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 / Task-Priority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207008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Khatib (1987) — Operational Space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Sentis &amp; Khatib (2005) — Null-space WBC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 et al. (2013) — Dynamic WBC contacts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Escande et al. (2014) — HQP (canonical)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Prete (2016) — TSID framework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913632"/>
            <a:ext cx="278892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91363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in industry (Atlas, HRP-4)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758952"/>
            <a:ext cx="2788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7589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MPC-Based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170432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207008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Wensing &amp; Orin (2013) — Conic task-space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Koolen et al. (2016) — Momentum, Atlas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Sleiman et al. (2021) — Loco-manipulation MPC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Romualdi et al. (2023) — Online centroidal NMPC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Wensing et al. (2024) — Optimization survey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913632"/>
            <a:ext cx="278892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91363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feasibility still challenging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758952"/>
            <a:ext cx="2788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7589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170432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1207008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Radosavovic et al. (2024) — Real humanoid RL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 (2025) — Residual WBC sim-to-real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HumanoidBench (2024) — Eval benchmark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PolySim (2025) — Multi-sim randomization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LeCleach et al. (2024) — Contact-implicit MPC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913632"/>
            <a:ext cx="278892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91363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closing gap with model-based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Where the Field Converges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 Thesis  |  May 5,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75488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89611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Centroidal Dynamics Are Sufficient for Planning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1353312"/>
            <a:ext cx="3502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Orin et al. (2013) establish centroidal momentum as the minimal planning abstraction. All major WBC frameworks — Atlas, NMPC, TSID — exploit this formulation. Planning in full-body space adds cost with no empirical benefit at control rates.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804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804672"/>
            <a:ext cx="475488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04672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89611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HQP Is the Dominant Execution Paradigm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49240" y="1353312"/>
            <a:ext cx="3502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Escande et al. (2014) canonicalize fast HQP for humanoid motion. Del Prete (2016) operationalizes it in TSID. Strict priority handling + inequality constraints make QP-WBC the industry-standard execution layer.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79776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79776"/>
            <a:ext cx="475488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79776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" y="2871216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Stability Requires QP-Based Wrench Distribution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86968" y="3328416"/>
            <a:ext cx="3502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differing positions on compliance (Righetti vs Saab 2013), the community converges on QP optimization for contact force distribution. Friction cone linearization remains the pragmatic standard for real-time control.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2312" y="2779776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82312" y="2779776"/>
            <a:ext cx="475488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779776"/>
            <a:ext cx="475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2871216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 Persists for Contact-Rich Tasks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49240" y="3328416"/>
            <a:ext cx="3502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PolySim (2025) and ASAP (2025) address domain randomization — validated on locomotion. Multi-contact manipulation in simulation lacks standardized protocols, leaving real-world deployment largely trial-and-error.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Three Critical Research Gaps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 Thesis  |  May 5,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832104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2296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914400"/>
            <a:ext cx="7315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914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17320" y="89611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Crisis in WBC Evaluation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20700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benchmark exists for comparing WBC controllers across simulators. Papers report different metrics (CoM error, ZMP margin, energy), different scenarios, and different perturbation magnitudes — making cross-paper comparison impossible.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1737360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contribution directly addresses this gap with protocol S1–S5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832104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9456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286000"/>
            <a:ext cx="7315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286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17320" y="226771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Fragmentation: Model-Based vs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57860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(TSID, Crocoddyl) and learning-based (ASAP, Radosavovic 2024) controllers coexist with no head-to-head comparison under identical conditions. Hybrid MPC + QP architectures remain underexplored on standard platforms.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17320" y="3108960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two-layer architecture bridges MPC and QP in one reproducible framework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832104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56616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7600"/>
            <a:ext cx="7315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57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17320" y="363931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Contact-Rich Scenarios Lack Systematic Benchmarking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395020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MuJoCo-based validation dominates for flat-ground locomotion. Stair climbing and whole-body manipulation under contact forces are rarely benchmarked in simulation before real-world deployment.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17320" y="4480560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Scenarios S4–S5 explicitly target contact-rich loco-manipulation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Research Positioning — Our Contribution vs SOTA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 Thesis  |  May 5,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58952"/>
            <a:ext cx="20299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58952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758952"/>
            <a:ext cx="170078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75895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Crocoddyl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50792" y="758952"/>
            <a:ext cx="167335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758952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TSID / SoT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42432" y="758952"/>
            <a:ext cx="167335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758952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(ASAP)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34072" y="758952"/>
            <a:ext cx="1673352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758952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197864"/>
            <a:ext cx="202996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197864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31720" y="1197864"/>
            <a:ext cx="17007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197864"/>
            <a:ext cx="16093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/ MPC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50792" y="1197864"/>
            <a:ext cx="1673352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1197864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Task-Priority QP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42432" y="1197864"/>
            <a:ext cx="1673352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1197864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34072" y="1197864"/>
            <a:ext cx="1673352" cy="521208"/>
          </a:xfrm>
          <a:prstGeom prst="rect">
            <a:avLst/>
          </a:prstGeom>
          <a:solidFill>
            <a:srgbClr val="E8F4FD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197864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MPC + QP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719072"/>
            <a:ext cx="2029968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719072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Platform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31720" y="1719072"/>
            <a:ext cx="1700784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719072"/>
            <a:ext cx="16093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ANYmal, HRP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50792" y="1719072"/>
            <a:ext cx="1673352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96512" y="1719072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HRP-4, iCub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42432" y="1719072"/>
            <a:ext cx="1673352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719072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Digit, H1, G1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34072" y="1719072"/>
            <a:ext cx="1673352" cy="521208"/>
          </a:xfrm>
          <a:prstGeom prst="rect">
            <a:avLst/>
          </a:prstGeom>
          <a:solidFill>
            <a:srgbClr val="E8F4FD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1719072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240280"/>
            <a:ext cx="202996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240280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31720" y="2240280"/>
            <a:ext cx="17007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240280"/>
            <a:ext cx="16093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Crocoddyl env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050792" y="2240280"/>
            <a:ext cx="1673352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2240280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/ ROS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42432" y="2240280"/>
            <a:ext cx="1673352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88152" y="2240280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IsaacGym/MuJoCo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34072" y="2240280"/>
            <a:ext cx="1673352" cy="521208"/>
          </a:xfrm>
          <a:prstGeom prst="rect">
            <a:avLst/>
          </a:prstGeom>
          <a:solidFill>
            <a:srgbClr val="E8F4FD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9792" y="2240280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2761488"/>
            <a:ext cx="2029968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761488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Protocol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331720" y="2761488"/>
            <a:ext cx="1700784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2761488"/>
            <a:ext cx="16093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050792" y="2761488"/>
            <a:ext cx="1673352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2761488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42432" y="2761488"/>
            <a:ext cx="1673352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88152" y="2761488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reward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34072" y="2761488"/>
            <a:ext cx="1673352" cy="521208"/>
          </a:xfrm>
          <a:prstGeom prst="rect">
            <a:avLst/>
          </a:prstGeom>
          <a:solidFill>
            <a:srgbClr val="E8F4FD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79792" y="2761488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S1–S5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3282696"/>
            <a:ext cx="2029968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282696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331720" y="3282696"/>
            <a:ext cx="17007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77440" y="3282696"/>
            <a:ext cx="16093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050792" y="3282696"/>
            <a:ext cx="1673352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96512" y="3282696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42432" y="3282696"/>
            <a:ext cx="1673352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88152" y="3282696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434072" y="3282696"/>
            <a:ext cx="1673352" cy="521208"/>
          </a:xfrm>
          <a:prstGeom prst="rect">
            <a:avLst/>
          </a:prstGeom>
          <a:solidFill>
            <a:srgbClr val="E8F4FD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79792" y="3282696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✓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3803904"/>
            <a:ext cx="2029968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803904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331720" y="3803904"/>
            <a:ext cx="1700784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0" y="3803904"/>
            <a:ext cx="16093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050792" y="3803904"/>
            <a:ext cx="1673352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96512" y="3803904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742432" y="3803904"/>
            <a:ext cx="1673352" cy="521208"/>
          </a:xfrm>
          <a:prstGeom prst="rect">
            <a:avLst/>
          </a:prstGeom>
          <a:solidFill>
            <a:srgbClr val="F5F8FC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88152" y="3803904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34072" y="3803904"/>
            <a:ext cx="1673352" cy="521208"/>
          </a:xfrm>
          <a:prstGeom prst="rect">
            <a:avLst/>
          </a:prstGeom>
          <a:solidFill>
            <a:srgbClr val="E8F4FD"/>
          </a:solidFill>
          <a:ln w="9525">
            <a:solidFill>
              <a:srgbClr val="D1D9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79792" y="3803904"/>
            <a:ext cx="1581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focus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434072" y="434340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This thesis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Proposed Approach &amp; Evaluation Protocol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 Thesis  |  May 5,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1078992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152144"/>
            <a:ext cx="10789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35024" y="14584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9616" y="1115568"/>
            <a:ext cx="1115568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99616" y="1152144"/>
            <a:ext cx="111556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99616" y="149275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Hz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15184" y="14584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76809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refs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forces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79776" y="1115568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79776" y="1152144"/>
            <a:ext cx="10789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QP-WBC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79776" y="149275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kHz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58768" y="14584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76809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023360" y="1115568"/>
            <a:ext cx="749808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1152144"/>
            <a:ext cx="74980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149275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499616" y="1856232"/>
            <a:ext cx="3273552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499616" y="1801368"/>
            <a:ext cx="0" cy="54864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73168" y="1801368"/>
            <a:ext cx="0" cy="54864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499616" y="1874520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feedback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" y="2075688"/>
            <a:ext cx="397764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2075688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Pinocchio (dynamics)  ·  Crocoddyl (MPC)  ·  TSID (WBC)  ·  MuJoCo (sim)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" y="24963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" y="2715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unilateral constraints · friction cone QP · wrench distribution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127248"/>
            <a:ext cx="397764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3200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" y="34198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observation in simulation · realistic noise planned for S3–S5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07408" y="749808"/>
            <a:ext cx="0" cy="4187952"/>
          </a:xfrm>
          <a:prstGeom prst="line">
            <a:avLst/>
          </a:prstGeom>
          <a:noFill/>
          <a:ln w="19050">
            <a:solidFill>
              <a:srgbClr val="D1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0288" y="749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Scenarios (S1–S5)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90288" y="1115568"/>
            <a:ext cx="850392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1115568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440680" y="1115568"/>
            <a:ext cx="850392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91072" y="1115568"/>
            <a:ext cx="8503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41464" y="1115568"/>
            <a:ext cx="8503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91856" y="1115568"/>
            <a:ext cx="8503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91856" y="1115568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90288" y="93268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Complexity →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90288" y="1316736"/>
            <a:ext cx="402336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1316736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84064" y="1316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Balance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84064" y="1545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Postural stability, joint limit compliance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90288" y="1892808"/>
            <a:ext cx="402336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0288" y="189280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84064" y="18928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— Flat Ground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84064" y="2121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gait, CoM height regulation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90288" y="2468880"/>
            <a:ext cx="402336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90288" y="24688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84064" y="2468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Recovery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84064" y="2697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force rejection (10–50 N impulse)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90288" y="3044952"/>
            <a:ext cx="40233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0288" y="3044952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84064" y="3044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 Climbing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84064" y="32735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Contact-rich locomotion, foot placement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90288" y="3621024"/>
            <a:ext cx="402336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90288" y="3621024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084064" y="36210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Manipulation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84064" y="3849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loco-manipulation under load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90288" y="4206240"/>
            <a:ext cx="4279392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81728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 CoM deviation  ·  ZMP margin  ·  Joint torque RMS  ·  Recovery time  ·  Energy / step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Work Plan — May to August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450592" y="6675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50592" y="859536"/>
            <a:ext cx="0" cy="3950208"/>
          </a:xfrm>
          <a:prstGeom prst="line">
            <a:avLst/>
          </a:prstGeom>
          <a:noFill/>
          <a:ln w="15240">
            <a:solidFill>
              <a:srgbClr val="1E5C3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984356" y="6675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84356" y="859536"/>
            <a:ext cx="0" cy="3950208"/>
          </a:xfrm>
          <a:prstGeom prst="line">
            <a:avLst/>
          </a:prstGeom>
          <a:noFill/>
          <a:ln w="9525">
            <a:solidFill>
              <a:srgbClr val="1E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8539" y="6675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88539" y="859536"/>
            <a:ext cx="0" cy="3950208"/>
          </a:xfrm>
          <a:prstGeom prst="line">
            <a:avLst/>
          </a:prstGeom>
          <a:noFill/>
          <a:ln w="9525">
            <a:solidFill>
              <a:srgbClr val="1E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49528" y="6675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49528" y="859536"/>
            <a:ext cx="0" cy="3950208"/>
          </a:xfrm>
          <a:prstGeom prst="line">
            <a:avLst/>
          </a:prstGeom>
          <a:noFill/>
          <a:ln w="9525">
            <a:solidFill>
              <a:srgbClr val="1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6217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26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869680" y="859536"/>
            <a:ext cx="0" cy="3950208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37160" y="93268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(pre-meeting)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" y="11887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State of the Art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50592" y="1188720"/>
            <a:ext cx="1704183" cy="237744"/>
          </a:xfrm>
          <a:prstGeom prst="rect">
            <a:avLst/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188720"/>
            <a:ext cx="1612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 — Literature review + bib audit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" y="153619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zip rebuild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50592" y="1536192"/>
            <a:ext cx="681673" cy="237744"/>
          </a:xfrm>
          <a:prstGeom prst="rect">
            <a:avLst/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536192"/>
            <a:ext cx="5902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 — 7 fake refs removed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7160" y="1920240"/>
            <a:ext cx="868680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37160" y="193852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7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WORK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" y="21854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Introduction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50592" y="2185416"/>
            <a:ext cx="852091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2185416"/>
            <a:ext cx="7606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· RQ · scope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37160" y="249631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Methodology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50592" y="2496312"/>
            <a:ext cx="113612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6312" y="2496312"/>
            <a:ext cx="10446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QP-WBC formulation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7160" y="28072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+ bib fixes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50592" y="2807208"/>
            <a:ext cx="22722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" y="311810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Setup (TALOS+MuJoCo)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02683" y="3118104"/>
            <a:ext cx="1704183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48403" y="3118104"/>
            <a:ext cx="16127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· Pinocchio · WBC stack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37160" y="342900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 Experiments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06866" y="3429000"/>
            <a:ext cx="142015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2586" y="3429000"/>
            <a:ext cx="1328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Walk · Push recovery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7160" y="373989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S4–S5 Experiments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42988" y="3739896"/>
            <a:ext cx="113612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8708" y="3739896"/>
            <a:ext cx="10446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 · Manipulation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37160" y="405079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Ch.4–5 Writing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27018" y="4050792"/>
            <a:ext cx="159057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2738" y="4050792"/>
            <a:ext cx="1499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+ Results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37160" y="436168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Ch.6–7 Discussion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49528" y="4361688"/>
            <a:ext cx="1022510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5248" y="4361688"/>
            <a:ext cx="9310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Conclusion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7160" y="467258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+ Buffer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31201" y="4672584"/>
            <a:ext cx="738479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 Thesis  |  May 5,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WBC Humanoid — Supervisor Meeting May 5 2026 v2</dc:title>
  <dc:subject>PptxGenJS Presentation</dc:subject>
  <dc:creator>David</dc:creator>
  <cp:lastModifiedBy>David</cp:lastModifiedBy>
  <cp:revision>1</cp:revision>
  <dcterms:created xsi:type="dcterms:W3CDTF">2026-04-30T10:36:03Z</dcterms:created>
  <dcterms:modified xsi:type="dcterms:W3CDTF">2026-04-30T10:36:03Z</dcterms:modified>
</cp:coreProperties>
</file>