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1238250"/>
            <a:ext cx="805462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MASTER'S THESIS · PROGRESS MEETING · 05 MAY 2026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1824990"/>
            <a:ext cx="8054626" cy="362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3"/>
              </a:lnSpc>
              <a:buNone/>
            </a:pPr>
            <a:r>
              <a:rPr lang="en-US" sz="7200" spc="-144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Whole-Body Control for Humanoid Robots.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47750" y="5676265"/>
            <a:ext cx="8054626" cy="57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i="1" spc="-40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simulation-first foundation.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047750" y="6673532"/>
            <a:ext cx="387034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47750" y="6947853"/>
            <a:ext cx="387034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Mazé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110163" y="6673532"/>
            <a:ext cx="387034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10163" y="6947853"/>
            <a:ext cx="387034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Gilbert Tang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110163" y="7294562"/>
            <a:ext cx="387034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Phil Webb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" y="7946073"/>
            <a:ext cx="387034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47750" y="8220392"/>
            <a:ext cx="387034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Cranfield University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7750" y="8567103"/>
            <a:ext cx="387034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MSc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110163" y="7946073"/>
            <a:ext cx="387034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10163" y="8220392"/>
            <a:ext cx="387034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August 2026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110163" y="8567103"/>
            <a:ext cx="3870341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− 16 weeks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47750" y="9218612"/>
            <a:ext cx="7820025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9378632"/>
            <a:ext cx="805462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spc="5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title — </a:t>
            </a:r>
            <a:pPr algn="l" indent="0" marL="0">
              <a:lnSpc>
                <a:spcPct val="150000"/>
              </a:lnSpc>
              <a:buNone/>
            </a:pPr>
            <a:r>
              <a:rPr lang="en-US" sz="1350" spc="54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"Development &amp; Simulation of a Whole-Body Control Framework for a Humanoid Robot"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439275" y="952500"/>
            <a:ext cx="2667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Shape 19"/>
          <p:cNvSpPr/>
          <p:nvPr/>
        </p:nvSpPr>
        <p:spPr>
          <a:xfrm>
            <a:off x="9439275" y="952500"/>
            <a:ext cx="9525" cy="2667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78050" y="952500"/>
            <a:ext cx="2667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Shape 21"/>
          <p:cNvSpPr/>
          <p:nvPr/>
        </p:nvSpPr>
        <p:spPr>
          <a:xfrm>
            <a:off x="15135225" y="952500"/>
            <a:ext cx="9525" cy="2667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Shape 22"/>
          <p:cNvSpPr/>
          <p:nvPr/>
        </p:nvSpPr>
        <p:spPr>
          <a:xfrm>
            <a:off x="9439275" y="9883457"/>
            <a:ext cx="2667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Shape 23"/>
          <p:cNvSpPr/>
          <p:nvPr/>
        </p:nvSpPr>
        <p:spPr>
          <a:xfrm>
            <a:off x="9439275" y="9626282"/>
            <a:ext cx="9525" cy="2667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6" name="Shape 24"/>
          <p:cNvSpPr/>
          <p:nvPr/>
        </p:nvSpPr>
        <p:spPr>
          <a:xfrm>
            <a:off x="14878050" y="9883457"/>
            <a:ext cx="2667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Shape 25"/>
          <p:cNvSpPr/>
          <p:nvPr/>
        </p:nvSpPr>
        <p:spPr>
          <a:xfrm>
            <a:off x="15135225" y="9626282"/>
            <a:ext cx="9525" cy="2667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0" y="952500"/>
            <a:ext cx="9525" cy="8940482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9275" y="952500"/>
            <a:ext cx="3705225" cy="894048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13152120" y="952500"/>
            <a:ext cx="4286250" cy="8940482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120" y="952500"/>
            <a:ext cx="4286250" cy="894048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9591675" y="9169082"/>
            <a:ext cx="251587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0 — TALOS · 32 DOF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13039725" y="9222423"/>
            <a:ext cx="1899284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135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MUJOCO · 1 KHZ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16411098" y="152400"/>
            <a:ext cx="90535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650" dirty="0"/>
          </a:p>
        </p:txBody>
      </p:sp>
      <p:sp>
        <p:nvSpPr>
          <p:cNvPr id="36" name="Shape 32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38" name="Text 34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01/18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415599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PROGRAMMATIC CONTEXT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92299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48045" y="952500"/>
            <a:ext cx="340645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STRATEGIC PLAN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5-year humanoid robotics program.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047750" y="2313464"/>
            <a:ext cx="14716125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thesis is the</a:t>
            </a:r>
            <a:pPr algn="l" indent="0" marL="0">
              <a:lnSpc>
                <a:spcPct val="120000"/>
              </a:lnSpc>
              <a:buNone/>
            </a:pPr>
            <a:r>
              <a:rPr lang="en-US" sz="3300" i="1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academic output </a:t>
            </a:r>
            <a:pPr algn="l" indent="0" marL="0">
              <a:lnSpc>
                <a:spcPct val="120000"/>
              </a:lnSpc>
              <a:buNone/>
            </a:pPr>
            <a:r>
              <a:rPr lang="en-US" sz="330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 long-term institutional program — so generality and reproducibility are the primary design constraints.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047750" y="4863782"/>
            <a:ext cx="16192500" cy="190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Shape 9"/>
          <p:cNvSpPr/>
          <p:nvPr/>
        </p:nvSpPr>
        <p:spPr>
          <a:xfrm>
            <a:off x="2423160" y="4730432"/>
            <a:ext cx="304800" cy="304800"/>
          </a:xfrm>
          <a:prstGeom prst="ellipse">
            <a:avLst/>
          </a:prstGeom>
          <a:solidFill>
            <a:srgbClr val="C04A2A"/>
          </a:solidFill>
          <a:ln w="1524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50800" dir="16200000">
              <a:srgbClr val="F2EEE5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88465" y="4311332"/>
            <a:ext cx="185054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WE ARE HERE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80402" y="5301932"/>
            <a:ext cx="299031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80402" y="5538153"/>
            <a:ext cx="29903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80402" y="6052503"/>
            <a:ext cx="2990316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foundations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80402" y="6848792"/>
            <a:ext cx="2990316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Literature, control formulation, simulation framework, evaluation protocol.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774055" y="4797107"/>
            <a:ext cx="171450" cy="171450"/>
          </a:xfrm>
          <a:prstGeom prst="ellipse">
            <a:avLst/>
          </a:prstGeom>
          <a:solidFill>
            <a:srgbClr val="F2EEE5"/>
          </a:solidFill>
          <a:ln w="15240">
            <a:solidFill>
              <a:srgbClr val="0F1B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4622" y="5235257"/>
            <a:ext cx="299031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64622" y="5471478"/>
            <a:ext cx="29903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364622" y="5985828"/>
            <a:ext cx="29903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maturity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364622" y="6431598"/>
            <a:ext cx="2990316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scenarios, sim-to-real preparation, second-generation control.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058275" y="4797107"/>
            <a:ext cx="171450" cy="171450"/>
          </a:xfrm>
          <a:prstGeom prst="ellipse">
            <a:avLst/>
          </a:prstGeom>
          <a:solidFill>
            <a:srgbClr val="F2EEE5"/>
          </a:solidFill>
          <a:ln w="15240">
            <a:solidFill>
              <a:srgbClr val="0F1B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8841" y="5235257"/>
            <a:ext cx="299031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648841" y="5471478"/>
            <a:ext cx="29903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648841" y="5985828"/>
            <a:ext cx="29903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648841" y="6431598"/>
            <a:ext cx="2990316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of TALOS-class hardware, first physical experiments.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2342495" y="4797107"/>
            <a:ext cx="171450" cy="171450"/>
          </a:xfrm>
          <a:prstGeom prst="ellipse">
            <a:avLst/>
          </a:prstGeom>
          <a:solidFill>
            <a:srgbClr val="F2EEE5"/>
          </a:solidFill>
          <a:ln w="15240">
            <a:solidFill>
              <a:srgbClr val="0F1B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33062" y="5235257"/>
            <a:ext cx="299031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933062" y="5471478"/>
            <a:ext cx="29903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0933062" y="5985828"/>
            <a:ext cx="29903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prototypes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0933062" y="6431598"/>
            <a:ext cx="2990316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control on real hardware, on-board perception, manipulation.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626715" y="4797107"/>
            <a:ext cx="171450" cy="171450"/>
          </a:xfrm>
          <a:prstGeom prst="ellipse">
            <a:avLst/>
          </a:prstGeom>
          <a:solidFill>
            <a:srgbClr val="F2EEE5"/>
          </a:solidFill>
          <a:ln w="15240">
            <a:solidFill>
              <a:srgbClr val="0F1B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217281" y="5235257"/>
            <a:ext cx="299031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4217281" y="5471478"/>
            <a:ext cx="29903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4217281" y="5985828"/>
            <a:ext cx="299031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humanoid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217281" y="6431598"/>
            <a:ext cx="2990316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whole-body autonomy in unstructured environments.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047750" y="8225790"/>
            <a:ext cx="16192500" cy="129921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7750" y="8225790"/>
            <a:ext cx="38100" cy="129921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9" name="Text 37"/>
          <p:cNvSpPr/>
          <p:nvPr/>
        </p:nvSpPr>
        <p:spPr>
          <a:xfrm>
            <a:off x="1390650" y="8454390"/>
            <a:ext cx="16030575" cy="88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physical hardware exists yet. Every decision made now must be</a:t>
            </a:r>
            <a:pPr algn="l" indent="0" marL="0">
              <a:lnSpc>
                <a:spcPct val="130000"/>
              </a:lnSpc>
              <a:buNone/>
            </a:pPr>
            <a:r>
              <a:rPr lang="en-US" sz="2550" i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forward-compatible </a:t>
            </a:r>
            <a:pPr algn="l" indent="0" marL="0">
              <a:lnSpc>
                <a:spcPct val="130000"/>
              </a:lnSpc>
              <a:buNone/>
            </a:pPr>
            <a:r>
              <a:rPr lang="en-US" sz="25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 are building the foundations the next researchers will inherit.</a:t>
            </a:r>
            <a:endParaRPr lang="en-US" sz="2550" dirty="0"/>
          </a:p>
        </p:txBody>
      </p:sp>
      <p:sp>
        <p:nvSpPr>
          <p:cNvPr id="40" name="Shape 38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4627225" y="152400"/>
            <a:ext cx="269141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· CONTEXT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02/18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437183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POSITION IN THE PROGRAM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01849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157595" y="952500"/>
            <a:ext cx="26224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 LAYER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thesis fits.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2786380" y="2585403"/>
            <a:ext cx="4425791" cy="1619250"/>
          </a:xfrm>
          <a:prstGeom prst="rect">
            <a:avLst/>
          </a:prstGeom>
          <a:solidFill>
            <a:srgbClr val="E8E2D4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4000" y="2593023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Shape 9"/>
          <p:cNvSpPr/>
          <p:nvPr/>
        </p:nvSpPr>
        <p:spPr>
          <a:xfrm>
            <a:off x="2794000" y="2593023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Shape 10"/>
          <p:cNvSpPr/>
          <p:nvPr/>
        </p:nvSpPr>
        <p:spPr>
          <a:xfrm>
            <a:off x="7033101" y="2593023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3" name="Shape 11"/>
          <p:cNvSpPr/>
          <p:nvPr/>
        </p:nvSpPr>
        <p:spPr>
          <a:xfrm>
            <a:off x="7195026" y="2593023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4" name="Shape 12"/>
          <p:cNvSpPr/>
          <p:nvPr/>
        </p:nvSpPr>
        <p:spPr>
          <a:xfrm>
            <a:off x="2794000" y="4187507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4000" y="4025582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Shape 14"/>
          <p:cNvSpPr/>
          <p:nvPr/>
        </p:nvSpPr>
        <p:spPr>
          <a:xfrm>
            <a:off x="7033101" y="4187507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Shape 15"/>
          <p:cNvSpPr/>
          <p:nvPr/>
        </p:nvSpPr>
        <p:spPr>
          <a:xfrm>
            <a:off x="7195026" y="4025582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8" name="Text 16"/>
          <p:cNvSpPr/>
          <p:nvPr/>
        </p:nvSpPr>
        <p:spPr>
          <a:xfrm>
            <a:off x="3060700" y="2783523"/>
            <a:ext cx="399346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YEAR 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60700" y="3175953"/>
            <a:ext cx="399346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humanoid system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3060700" y="3852228"/>
            <a:ext cx="399346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F1B2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cognition, perception, manipulation.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917065" y="4442778"/>
            <a:ext cx="6164580" cy="1905000"/>
          </a:xfrm>
          <a:prstGeom prst="rect">
            <a:avLst/>
          </a:prstGeom>
          <a:solidFill>
            <a:srgbClr val="E8E2D4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4685" y="4450398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Shape 21"/>
          <p:cNvSpPr/>
          <p:nvPr/>
        </p:nvSpPr>
        <p:spPr>
          <a:xfrm>
            <a:off x="1924685" y="4450398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Shape 22"/>
          <p:cNvSpPr/>
          <p:nvPr/>
        </p:nvSpPr>
        <p:spPr>
          <a:xfrm>
            <a:off x="7902575" y="4450398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Shape 23"/>
          <p:cNvSpPr/>
          <p:nvPr/>
        </p:nvSpPr>
        <p:spPr>
          <a:xfrm>
            <a:off x="8064500" y="4450398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6" name="Shape 24"/>
          <p:cNvSpPr/>
          <p:nvPr/>
        </p:nvSpPr>
        <p:spPr>
          <a:xfrm>
            <a:off x="1924685" y="6330632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Shape 25"/>
          <p:cNvSpPr/>
          <p:nvPr/>
        </p:nvSpPr>
        <p:spPr>
          <a:xfrm>
            <a:off x="1924685" y="6168707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8" name="Shape 26"/>
          <p:cNvSpPr/>
          <p:nvPr/>
        </p:nvSpPr>
        <p:spPr>
          <a:xfrm>
            <a:off x="7902575" y="6330632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9" name="Shape 27"/>
          <p:cNvSpPr/>
          <p:nvPr/>
        </p:nvSpPr>
        <p:spPr>
          <a:xfrm>
            <a:off x="8064500" y="6168707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0" name="Text 28"/>
          <p:cNvSpPr/>
          <p:nvPr/>
        </p:nvSpPr>
        <p:spPr>
          <a:xfrm>
            <a:off x="2191385" y="4640898"/>
            <a:ext cx="578441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YEAR 3–4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191385" y="5033328"/>
            <a:ext cx="57844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2191385" y="5409565"/>
            <a:ext cx="57844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F1B2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TALOS · sim-to-real transfer · on-board perception.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47750" y="6585903"/>
            <a:ext cx="7903369" cy="2857500"/>
          </a:xfrm>
          <a:prstGeom prst="rect">
            <a:avLst/>
          </a:prstGeom>
          <a:solidFill>
            <a:srgbClr val="0F1B2D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5370" y="6593523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5370" y="6593523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6" name="Shape 34"/>
          <p:cNvSpPr/>
          <p:nvPr/>
        </p:nvSpPr>
        <p:spPr>
          <a:xfrm>
            <a:off x="8772049" y="6593523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7" name="Shape 35"/>
          <p:cNvSpPr/>
          <p:nvPr/>
        </p:nvSpPr>
        <p:spPr>
          <a:xfrm>
            <a:off x="8933974" y="6593523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55370" y="9426257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5370" y="9264332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0" name="Shape 38"/>
          <p:cNvSpPr/>
          <p:nvPr/>
        </p:nvSpPr>
        <p:spPr>
          <a:xfrm>
            <a:off x="8772049" y="9426257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1" name="Shape 39"/>
          <p:cNvSpPr/>
          <p:nvPr/>
        </p:nvSpPr>
        <p:spPr>
          <a:xfrm>
            <a:off x="8933974" y="9264332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2" name="Text 40"/>
          <p:cNvSpPr/>
          <p:nvPr/>
        </p:nvSpPr>
        <p:spPr>
          <a:xfrm>
            <a:off x="1322070" y="6784023"/>
            <a:ext cx="757537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YEAR 1 · THIS THESIS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322070" y="7176453"/>
            <a:ext cx="7575371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framework + evaluation protocol</a:t>
            </a:r>
            <a:endParaRPr lang="en-US" sz="3150" dirty="0"/>
          </a:p>
        </p:txBody>
      </p:sp>
      <p:sp>
        <p:nvSpPr>
          <p:cNvPr id="44" name="Text 42"/>
          <p:cNvSpPr/>
          <p:nvPr/>
        </p:nvSpPr>
        <p:spPr>
          <a:xfrm>
            <a:off x="1322070" y="8092757"/>
            <a:ext cx="7575371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2EEE5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 + QP-WBC on TALOS in MuJoCo. Reproducible S1–S5 protocol. Open-source, modular, documented.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713119" y="3125946"/>
            <a:ext cx="775294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FRAMEWORK PROPERTIES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9713119" y="3560286"/>
            <a:ext cx="6096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7" name="Text 45"/>
          <p:cNvSpPr/>
          <p:nvPr/>
        </p:nvSpPr>
        <p:spPr>
          <a:xfrm>
            <a:off x="9713119" y="3625056"/>
            <a:ext cx="685800" cy="1213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513219" y="3560286"/>
            <a:ext cx="6727031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9" name="Text 47"/>
          <p:cNvSpPr/>
          <p:nvPr/>
        </p:nvSpPr>
        <p:spPr>
          <a:xfrm>
            <a:off x="10513219" y="3625056"/>
            <a:ext cx="6928842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</a:t>
            </a:r>
            <a:endParaRPr lang="en-US" sz="2850" dirty="0"/>
          </a:p>
        </p:txBody>
      </p:sp>
      <p:sp>
        <p:nvSpPr>
          <p:cNvPr id="50" name="Text 48"/>
          <p:cNvSpPr/>
          <p:nvPr/>
        </p:nvSpPr>
        <p:spPr>
          <a:xfrm>
            <a:off x="10513219" y="4080351"/>
            <a:ext cx="692884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swap as the hardware program evolves — physics engine, dynamics library, even the planner itself.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713119" y="5067141"/>
            <a:ext cx="6096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2" name="Text 50"/>
          <p:cNvSpPr/>
          <p:nvPr/>
        </p:nvSpPr>
        <p:spPr>
          <a:xfrm>
            <a:off x="9713119" y="5131911"/>
            <a:ext cx="685800" cy="1573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0513219" y="5067141"/>
            <a:ext cx="6727031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4" name="Text 52"/>
          <p:cNvSpPr/>
          <p:nvPr/>
        </p:nvSpPr>
        <p:spPr>
          <a:xfrm>
            <a:off x="10513219" y="5131911"/>
            <a:ext cx="6928842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2850" dirty="0"/>
          </a:p>
        </p:txBody>
      </p:sp>
      <p:sp>
        <p:nvSpPr>
          <p:cNvPr id="55" name="Text 53"/>
          <p:cNvSpPr/>
          <p:nvPr/>
        </p:nvSpPr>
        <p:spPr>
          <a:xfrm>
            <a:off x="10513219" y="5587206"/>
            <a:ext cx="6928842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reruns from a single command. Seeds, configs and metrics are version-controlled alongside the code.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9713119" y="6934041"/>
            <a:ext cx="6096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7" name="Text 55"/>
          <p:cNvSpPr/>
          <p:nvPr/>
        </p:nvSpPr>
        <p:spPr>
          <a:xfrm>
            <a:off x="9713119" y="6998811"/>
            <a:ext cx="685800" cy="1213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513219" y="6934041"/>
            <a:ext cx="6727031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9" name="Text 57"/>
          <p:cNvSpPr/>
          <p:nvPr/>
        </p:nvSpPr>
        <p:spPr>
          <a:xfrm>
            <a:off x="10513219" y="6998811"/>
            <a:ext cx="6928842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Well-documented</a:t>
            </a:r>
            <a:endParaRPr lang="en-US" sz="2850" dirty="0"/>
          </a:p>
        </p:txBody>
      </p:sp>
      <p:sp>
        <p:nvSpPr>
          <p:cNvPr id="60" name="Text 58"/>
          <p:cNvSpPr/>
          <p:nvPr/>
        </p:nvSpPr>
        <p:spPr>
          <a:xfrm>
            <a:off x="10513219" y="7454106"/>
            <a:ext cx="692884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researchers extend the framework — they do not restart it. README, tutorials, and inline derivations.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9713119" y="8517096"/>
            <a:ext cx="77529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 floor, hardware work has nothing to build on.</a:t>
            </a:r>
            <a:endParaRPr lang="en-US" sz="2250" dirty="0"/>
          </a:p>
        </p:txBody>
      </p:sp>
      <p:sp>
        <p:nvSpPr>
          <p:cNvPr id="62" name="Shape 60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4627225" y="152400"/>
            <a:ext cx="269141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· CONTEXT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03/18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393247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REFINING THE PROBLEM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75287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731034" y="952500"/>
            <a:ext cx="365286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TOPIC TO QUESTION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broad topic to a precise research question.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2580164"/>
            <a:ext cx="6172200" cy="6944837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0" name="Text 8"/>
          <p:cNvSpPr/>
          <p:nvPr/>
        </p:nvSpPr>
        <p:spPr>
          <a:xfrm>
            <a:off x="1390650" y="2961164"/>
            <a:ext cx="565099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TOPIC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90650" y="3410744"/>
            <a:ext cx="565099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"Development &amp; simulation of a whole-body control model for a humanoid robot."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90650" y="6186488"/>
            <a:ext cx="565099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NOT ENOUGH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90650" y="6537007"/>
            <a:ext cx="198596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646396" y="6498907"/>
            <a:ext cx="5387574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whole-body control approach? (dozens exist)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90650" y="7281863"/>
            <a:ext cx="198596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646396" y="7243763"/>
            <a:ext cx="4069499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humanoid? Which simulator?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90650" y="7692390"/>
            <a:ext cx="198596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46396" y="7654290"/>
            <a:ext cx="5387574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success look like? How is it measured?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90650" y="8437245"/>
            <a:ext cx="198596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646396" y="8399145"/>
            <a:ext cx="5387574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evaluation criterion → no way to know if we succeeded.</a:t>
            </a:r>
            <a:endParaRPr lang="en-US" sz="19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9950" y="5766753"/>
            <a:ext cx="762000" cy="5715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981950" y="2580164"/>
            <a:ext cx="9258300" cy="6944837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Shape 20"/>
          <p:cNvSpPr/>
          <p:nvPr/>
        </p:nvSpPr>
        <p:spPr>
          <a:xfrm>
            <a:off x="7981950" y="2580164"/>
            <a:ext cx="2095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4" name="Shape 21"/>
          <p:cNvSpPr/>
          <p:nvPr/>
        </p:nvSpPr>
        <p:spPr>
          <a:xfrm>
            <a:off x="7981950" y="2580164"/>
            <a:ext cx="9525" cy="2095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5" name="Shape 22"/>
          <p:cNvSpPr/>
          <p:nvPr/>
        </p:nvSpPr>
        <p:spPr>
          <a:xfrm>
            <a:off x="17030700" y="2580164"/>
            <a:ext cx="2095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6" name="Shape 23"/>
          <p:cNvSpPr/>
          <p:nvPr/>
        </p:nvSpPr>
        <p:spPr>
          <a:xfrm>
            <a:off x="17230725" y="2580164"/>
            <a:ext cx="9525" cy="2095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7" name="Shape 24"/>
          <p:cNvSpPr/>
          <p:nvPr/>
        </p:nvSpPr>
        <p:spPr>
          <a:xfrm>
            <a:off x="7981950" y="9515475"/>
            <a:ext cx="2095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8" name="Shape 25"/>
          <p:cNvSpPr/>
          <p:nvPr/>
        </p:nvSpPr>
        <p:spPr>
          <a:xfrm>
            <a:off x="7981950" y="9315450"/>
            <a:ext cx="9525" cy="2095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9" name="Shape 26"/>
          <p:cNvSpPr/>
          <p:nvPr/>
        </p:nvSpPr>
        <p:spPr>
          <a:xfrm>
            <a:off x="17030700" y="9515475"/>
            <a:ext cx="2095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0" name="Shape 27"/>
          <p:cNvSpPr/>
          <p:nvPr/>
        </p:nvSpPr>
        <p:spPr>
          <a:xfrm>
            <a:off x="17230725" y="9315450"/>
            <a:ext cx="9525" cy="2095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1" name="Text 28"/>
          <p:cNvSpPr/>
          <p:nvPr/>
        </p:nvSpPr>
        <p:spPr>
          <a:xfrm>
            <a:off x="8401050" y="2961164"/>
            <a:ext cx="867270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RESEARCH QUESTION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401050" y="3410744"/>
            <a:ext cx="8672703" cy="2918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</a:t>
            </a:r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MPC + QP-WBC </a:t>
            </a:r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implemented on </a:t>
            </a:r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TALOS in MuJoCo </a:t>
            </a:r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be rigorously evaluated through a </a:t>
            </a:r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scenario-based protocol </a:t>
            </a:r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serve as a </a:t>
            </a:r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simulation foundation </a:t>
            </a:r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future hardware integration?</a:t>
            </a:r>
            <a:endParaRPr lang="en-US" sz="3150" dirty="0"/>
          </a:p>
        </p:txBody>
      </p:sp>
      <p:sp>
        <p:nvSpPr>
          <p:cNvPr id="33" name="Shape 30"/>
          <p:cNvSpPr/>
          <p:nvPr/>
        </p:nvSpPr>
        <p:spPr>
          <a:xfrm>
            <a:off x="8401050" y="7726680"/>
            <a:ext cx="4114800" cy="9525"/>
          </a:xfrm>
          <a:prstGeom prst="rect">
            <a:avLst/>
          </a:prstGeom>
          <a:solidFill>
            <a:srgbClr val="C04A2A">
              <a:alpha val="4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8401050" y="7829550"/>
            <a:ext cx="423824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401050" y="8042910"/>
            <a:ext cx="42382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 + QP-WBC two-layer hierarchy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2706350" y="7726680"/>
            <a:ext cx="4114800" cy="9525"/>
          </a:xfrm>
          <a:prstGeom prst="rect">
            <a:avLst/>
          </a:prstGeom>
          <a:solidFill>
            <a:srgbClr val="C04A2A">
              <a:alpha val="4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12706350" y="7829550"/>
            <a:ext cx="423824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2706350" y="8042910"/>
            <a:ext cx="42382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TALOS robot · MuJoCo simulator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8401050" y="8530590"/>
            <a:ext cx="4114800" cy="9525"/>
          </a:xfrm>
          <a:prstGeom prst="rect">
            <a:avLst/>
          </a:prstGeom>
          <a:solidFill>
            <a:srgbClr val="C04A2A">
              <a:alpha val="4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8401050" y="8633460"/>
            <a:ext cx="423824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401050" y="8846820"/>
            <a:ext cx="42382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S1–S5 protocol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12706350" y="8530590"/>
            <a:ext cx="4114800" cy="9525"/>
          </a:xfrm>
          <a:prstGeom prst="rect">
            <a:avLst/>
          </a:prstGeom>
          <a:solidFill>
            <a:srgbClr val="C04A2A">
              <a:alpha val="4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12706350" y="8633460"/>
            <a:ext cx="423824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GOAL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2706350" y="8846820"/>
            <a:ext cx="42382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foundation for the program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14603571" y="152400"/>
            <a:ext cx="271577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PROBLEM</a:t>
            </a:r>
            <a:endParaRPr lang="en-US" sz="1650" dirty="0"/>
          </a:p>
        </p:txBody>
      </p:sp>
      <p:sp>
        <p:nvSpPr>
          <p:cNvPr id="47" name="Shape 44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04/18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204454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STRATEGY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625691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881438" y="952500"/>
            <a:ext cx="508769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 CHOICE, NOT A LIMITATION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"simulation-first" is the right strategy.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2580164"/>
            <a:ext cx="7810500" cy="4472146"/>
          </a:xfrm>
          <a:prstGeom prst="rect">
            <a:avLst/>
          </a:prstGeom>
          <a:solidFill>
            <a:srgbClr val="E8E2D4"/>
          </a:solidFill>
          <a:ln w="7620">
            <a:solidFill>
              <a:srgbClr val="0F1B2D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5370" y="2587784"/>
            <a:ext cx="1905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Shape 9"/>
          <p:cNvSpPr/>
          <p:nvPr/>
        </p:nvSpPr>
        <p:spPr>
          <a:xfrm>
            <a:off x="1055370" y="2587784"/>
            <a:ext cx="9525" cy="190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Shape 10"/>
          <p:cNvSpPr/>
          <p:nvPr/>
        </p:nvSpPr>
        <p:spPr>
          <a:xfrm>
            <a:off x="8660130" y="2587784"/>
            <a:ext cx="1905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3" name="Shape 11"/>
          <p:cNvSpPr/>
          <p:nvPr/>
        </p:nvSpPr>
        <p:spPr>
          <a:xfrm>
            <a:off x="8841105" y="2587784"/>
            <a:ext cx="9525" cy="190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5370" y="7035165"/>
            <a:ext cx="1905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5370" y="6854190"/>
            <a:ext cx="9525" cy="190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Shape 14"/>
          <p:cNvSpPr/>
          <p:nvPr/>
        </p:nvSpPr>
        <p:spPr>
          <a:xfrm>
            <a:off x="8660130" y="7035165"/>
            <a:ext cx="19050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Shape 15"/>
          <p:cNvSpPr/>
          <p:nvPr/>
        </p:nvSpPr>
        <p:spPr>
          <a:xfrm>
            <a:off x="8841105" y="6854190"/>
            <a:ext cx="9525" cy="190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8" name="Text 16"/>
          <p:cNvSpPr/>
          <p:nvPr/>
        </p:nvSpPr>
        <p:spPr>
          <a:xfrm>
            <a:off x="1474470" y="2968784"/>
            <a:ext cx="71657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ENVIRONMENT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474470" y="3441224"/>
            <a:ext cx="695706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74470" y="4066064"/>
            <a:ext cx="342138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74470" y="3582194"/>
            <a:ext cx="65103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56794" y="3582194"/>
            <a:ext cx="141525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Negligible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010150" y="4066064"/>
            <a:ext cx="342138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10150" y="3582194"/>
            <a:ext cx="118078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64254" y="3582194"/>
            <a:ext cx="114347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474470" y="4805204"/>
            <a:ext cx="342138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474470" y="4321334"/>
            <a:ext cx="16675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33056" y="4321334"/>
            <a:ext cx="83899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5010150" y="4805204"/>
            <a:ext cx="342138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10150" y="4321334"/>
            <a:ext cx="152479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RISK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02709" y="4321334"/>
            <a:ext cx="80502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474470" y="5041424"/>
            <a:ext cx="7165772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iteration, parameter sweeps, and reproducible experiments without physical risk.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429750" y="2580164"/>
            <a:ext cx="7810500" cy="4472146"/>
          </a:xfrm>
          <a:prstGeom prst="rect">
            <a:avLst/>
          </a:prstGeom>
          <a:solidFill>
            <a:srgbClr val="0F1B2D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37370" y="2587784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5" name="Shape 33"/>
          <p:cNvSpPr/>
          <p:nvPr/>
        </p:nvSpPr>
        <p:spPr>
          <a:xfrm>
            <a:off x="9437370" y="2587784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6" name="Shape 34"/>
          <p:cNvSpPr/>
          <p:nvPr/>
        </p:nvSpPr>
        <p:spPr>
          <a:xfrm>
            <a:off x="17042130" y="2587784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7" name="Shape 35"/>
          <p:cNvSpPr/>
          <p:nvPr/>
        </p:nvSpPr>
        <p:spPr>
          <a:xfrm>
            <a:off x="17223105" y="2587784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8" name="Shape 36"/>
          <p:cNvSpPr/>
          <p:nvPr/>
        </p:nvSpPr>
        <p:spPr>
          <a:xfrm>
            <a:off x="9437370" y="7035165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9" name="Shape 37"/>
          <p:cNvSpPr/>
          <p:nvPr/>
        </p:nvSpPr>
        <p:spPr>
          <a:xfrm>
            <a:off x="9437370" y="6854190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0" name="Shape 38"/>
          <p:cNvSpPr/>
          <p:nvPr/>
        </p:nvSpPr>
        <p:spPr>
          <a:xfrm>
            <a:off x="17042130" y="7035165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1" name="Shape 39"/>
          <p:cNvSpPr/>
          <p:nvPr/>
        </p:nvSpPr>
        <p:spPr>
          <a:xfrm>
            <a:off x="17223105" y="6854190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2" name="Text 40"/>
          <p:cNvSpPr/>
          <p:nvPr/>
        </p:nvSpPr>
        <p:spPr>
          <a:xfrm>
            <a:off x="9856470" y="2968784"/>
            <a:ext cx="716577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HARDWARE (YEAR 3+)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9856470" y="3441224"/>
            <a:ext cx="695706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856470" y="4066064"/>
            <a:ext cx="34213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856470" y="3582194"/>
            <a:ext cx="65103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2184698" y="3582194"/>
            <a:ext cx="116935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€ 500k+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3392150" y="4066064"/>
            <a:ext cx="34213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3392150" y="3582194"/>
            <a:ext cx="118078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6118999" y="3582194"/>
            <a:ext cx="7707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9856470" y="4805204"/>
            <a:ext cx="34213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856470" y="4321334"/>
            <a:ext cx="166751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2719209" y="4321334"/>
            <a:ext cx="63484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3392150" y="4805204"/>
            <a:ext cx="342138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3392150" y="4321334"/>
            <a:ext cx="152479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RISK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6186468" y="4321334"/>
            <a:ext cx="7032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9856470" y="5041424"/>
            <a:ext cx="7165772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2EEE5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Expensive, unforgiving, and unavailable during early-stage research.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1047750" y="7357110"/>
            <a:ext cx="16192500" cy="216789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58" name="Shape 56"/>
          <p:cNvSpPr/>
          <p:nvPr/>
        </p:nvSpPr>
        <p:spPr>
          <a:xfrm>
            <a:off x="1047750" y="7357110"/>
            <a:ext cx="38100" cy="216789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9" name="Text 57"/>
          <p:cNvSpPr/>
          <p:nvPr/>
        </p:nvSpPr>
        <p:spPr>
          <a:xfrm>
            <a:off x="1466850" y="7661910"/>
            <a:ext cx="400867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SIM-TO-REAL TRANSFER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466850" y="7962900"/>
            <a:ext cx="400867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solved research problem for locomotion.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5739765" y="7779544"/>
            <a:ext cx="11453070" cy="1361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randomization &amp; contact-model tuning bridge the gap. By design, only the </a:t>
            </a:r>
            <a:pPr algn="l" indent="0" marL="0">
              <a:lnSpc>
                <a:spcPct val="135000"/>
              </a:lnSpc>
              <a:buNone/>
            </a:pPr>
            <a:r>
              <a:rPr lang="en-US" sz="2550" b="1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hardware-interface layer </a:t>
            </a:r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when physical TALOS arrives — the MPC + QP-WBC stack is identical in sim and on real hardware.</a:t>
            </a:r>
            <a:endParaRPr lang="en-US" sz="2550" dirty="0"/>
          </a:p>
        </p:txBody>
      </p:sp>
      <p:sp>
        <p:nvSpPr>
          <p:cNvPr id="62" name="Shape 60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4603571" y="152400"/>
            <a:ext cx="271577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· PROBLEM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05/18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31585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STATE OF THE ART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23924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79670" y="952500"/>
            <a:ext cx="344144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YEARS · 3 PARADIGMS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years of whole-body control.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428750" y="2848769"/>
            <a:ext cx="266700" cy="13335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770664"/>
            <a:ext cx="2002473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 / Task-Priority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288473" y="2848769"/>
            <a:ext cx="266700" cy="1333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2" name="Text 10"/>
          <p:cNvSpPr/>
          <p:nvPr/>
        </p:nvSpPr>
        <p:spPr>
          <a:xfrm>
            <a:off x="4688523" y="2770664"/>
            <a:ext cx="141144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MPC-Based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557169" y="2848769"/>
            <a:ext cx="266700" cy="133350"/>
          </a:xfrm>
          <a:prstGeom prst="rect">
            <a:avLst/>
          </a:prstGeom>
          <a:solidFill>
            <a:srgbClr val="6E3F8E"/>
          </a:solidFill>
          <a:ln/>
        </p:spPr>
      </p:sp>
      <p:sp>
        <p:nvSpPr>
          <p:cNvPr id="14" name="Text 12"/>
          <p:cNvSpPr/>
          <p:nvPr/>
        </p:nvSpPr>
        <p:spPr>
          <a:xfrm>
            <a:off x="6957219" y="2770664"/>
            <a:ext cx="1825307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Learning-Based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428750" y="3403124"/>
            <a:ext cx="9525" cy="4381500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62050" y="7853204"/>
            <a:ext cx="533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08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192237" y="3403124"/>
            <a:ext cx="9525" cy="4381500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25537" y="7853204"/>
            <a:ext cx="533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08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955723" y="3403124"/>
            <a:ext cx="9525" cy="4381500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689023" y="7853204"/>
            <a:ext cx="533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08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2719209" y="3403124"/>
            <a:ext cx="9525" cy="4381500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452509" y="7853204"/>
            <a:ext cx="533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08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6482854" y="3403124"/>
            <a:ext cx="9525" cy="4381500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6216154" y="7853204"/>
            <a:ext cx="53340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08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181384" y="3688874"/>
            <a:ext cx="14677708" cy="914400"/>
          </a:xfrm>
          <a:prstGeom prst="rect">
            <a:avLst/>
          </a:prstGeom>
          <a:solidFill>
            <a:srgbClr val="1E5B7A">
              <a:alpha val="9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514634" y="4050824"/>
            <a:ext cx="63928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1E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1987→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71859" y="374602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148681" y="3345974"/>
            <a:ext cx="653891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32501" y="3382169"/>
            <a:ext cx="562451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Khatib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232501" y="3562191"/>
            <a:ext cx="56245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8946198" y="374602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285638" y="4622324"/>
            <a:ext cx="1340009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9459" y="4658519"/>
            <a:ext cx="1248569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Sentis &amp; Khatib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69459" y="4838541"/>
            <a:ext cx="124856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12333446" y="374602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1925458" y="2869724"/>
            <a:ext cx="835025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009279" y="2905919"/>
            <a:ext cx="743585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Escande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2009279" y="3085941"/>
            <a:ext cx="74358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13086080" y="374602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2257246" y="5098574"/>
            <a:ext cx="882491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341066" y="5134769"/>
            <a:ext cx="791051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Prete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2341066" y="5314791"/>
            <a:ext cx="79105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966575" y="4927124"/>
            <a:ext cx="4892516" cy="914400"/>
          </a:xfrm>
          <a:prstGeom prst="rect">
            <a:avLst/>
          </a:prstGeom>
          <a:solidFill>
            <a:srgbClr val="C04A2A">
              <a:alpha val="9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1299825" y="5289074"/>
            <a:ext cx="63928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2013→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1957050" y="498427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1898312" y="4584224"/>
            <a:ext cx="1365409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982133" y="4620419"/>
            <a:ext cx="1273969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Wensing &amp; Orin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1982133" y="4800441"/>
            <a:ext cx="127396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3086080" y="498427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2744767" y="5860574"/>
            <a:ext cx="701675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828588" y="5896769"/>
            <a:ext cx="610235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Koolen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2828588" y="6076791"/>
            <a:ext cx="61023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4967903" y="498427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4583887" y="4107974"/>
            <a:ext cx="787241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667706" y="4144169"/>
            <a:ext cx="695801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Sleiman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4667706" y="4324191"/>
            <a:ext cx="69580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15720536" y="498427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4882495" y="6336824"/>
            <a:ext cx="892175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966314" y="6373019"/>
            <a:ext cx="800735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Romualdi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4966314" y="6553041"/>
            <a:ext cx="80073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15353823" y="6165374"/>
            <a:ext cx="1505268" cy="914400"/>
          </a:xfrm>
          <a:prstGeom prst="rect">
            <a:avLst/>
          </a:prstGeom>
          <a:solidFill>
            <a:srgbClr val="6E3F8E">
              <a:alpha val="9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4687073" y="6527324"/>
            <a:ext cx="63928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6E3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2022→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6096933" y="622252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16048990" y="5822474"/>
            <a:ext cx="1149509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132811" y="5858669"/>
            <a:ext cx="1058069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Radosavovic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16132811" y="6038691"/>
            <a:ext cx="105806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16473329" y="622252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16170434" y="7098824"/>
            <a:ext cx="624840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6254254" y="7135019"/>
            <a:ext cx="533400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ASAP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16254254" y="7315041"/>
            <a:ext cx="53340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16661448" y="6222524"/>
            <a:ext cx="1905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5914370" y="5346224"/>
            <a:ext cx="796449" cy="374332"/>
          </a:xfrm>
          <a:prstGeom prst="rect">
            <a:avLst/>
          </a:prstGeom>
          <a:solidFill>
            <a:srgbClr val="F2EEE5"/>
          </a:solidFill>
          <a:ln w="7620">
            <a:solidFill>
              <a:srgbClr val="0F1B2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5998190" y="5382419"/>
            <a:ext cx="705009" cy="21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PolySim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5998190" y="5562441"/>
            <a:ext cx="705009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16613505" y="3307874"/>
            <a:ext cx="56769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▼</a:t>
            </a:r>
            <a:endParaRPr lang="en-US" sz="1350" dirty="0"/>
          </a:p>
        </p:txBody>
      </p:sp>
      <p:sp>
        <p:nvSpPr>
          <p:cNvPr id="76" name="Shape 74"/>
          <p:cNvSpPr/>
          <p:nvPr/>
        </p:nvSpPr>
        <p:spPr>
          <a:xfrm>
            <a:off x="16859250" y="3536474"/>
            <a:ext cx="19050" cy="43434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77" name="Text 75"/>
          <p:cNvSpPr/>
          <p:nvPr/>
        </p:nvSpPr>
        <p:spPr>
          <a:xfrm>
            <a:off x="1428750" y="8089424"/>
            <a:ext cx="1589341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generation solves part of the problem — none subsumes the others. Our framework deliberately sits in the most-validated branch (model-based) while staying compatible with the newest one (learning-based).</a:t>
            </a:r>
            <a:endParaRPr lang="en-US" sz="2250" dirty="0"/>
          </a:p>
        </p:txBody>
      </p:sp>
      <p:sp>
        <p:nvSpPr>
          <p:cNvPr id="78" name="Shape 76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4289564" y="152400"/>
            <a:ext cx="303920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· LITERATURE</a:t>
            </a:r>
            <a:endParaRPr lang="en-US" sz="1650" dirty="0"/>
          </a:p>
        </p:txBody>
      </p:sp>
      <p:sp>
        <p:nvSpPr>
          <p:cNvPr id="80" name="Shape 78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82" name="Text 80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06/18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455791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WHAT THE FIELD AGREES 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82506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38253" y="952500"/>
            <a:ext cx="247205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INVARIANTS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points of consensus.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047750" y="2275364"/>
            <a:ext cx="14716125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three paradigms and four decades, the community has converged on these — they are the non-negotiables our framework must respect.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3486944"/>
            <a:ext cx="7962900" cy="2885758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3486944"/>
            <a:ext cx="7962900" cy="15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Text 10"/>
          <p:cNvSpPr/>
          <p:nvPr/>
        </p:nvSpPr>
        <p:spPr>
          <a:xfrm>
            <a:off x="1390650" y="3768884"/>
            <a:ext cx="203723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01· CONSENSUS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01535" y="3806984"/>
            <a:ext cx="154241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ORIN ET AL. 2013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90650" y="4123214"/>
            <a:ext cx="7495413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Centroidal dynamics suffice for planning.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390650" y="4654709"/>
            <a:ext cx="7495413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32-DoF body abstracts to a 6-DoF centroidal model for trajectory planning. Every major framework does this; full-body planning adds compute with no empirical benefit at control rates.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77350" y="3486944"/>
            <a:ext cx="7962900" cy="2885758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7" name="Shape 15"/>
          <p:cNvSpPr/>
          <p:nvPr/>
        </p:nvSpPr>
        <p:spPr>
          <a:xfrm>
            <a:off x="9277350" y="3486944"/>
            <a:ext cx="7962900" cy="15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8" name="Text 16"/>
          <p:cNvSpPr/>
          <p:nvPr/>
        </p:nvSpPr>
        <p:spPr>
          <a:xfrm>
            <a:off x="9620250" y="3768884"/>
            <a:ext cx="203723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02· CONSENSUS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061281" y="3806984"/>
            <a:ext cx="292115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ESCANDE 2014 · DEL PRETE 2016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20250" y="4123214"/>
            <a:ext cx="7495413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QP is the dominant execution paradigm.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9620250" y="5052854"/>
            <a:ext cx="7495413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task priority — "don't fall" beats "track the arm" — plus inequality constraints (joint limits, friction cones) make QP-WBC the industry-standard execution layer.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6639401"/>
            <a:ext cx="7962900" cy="2885758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7750" y="6639401"/>
            <a:ext cx="7962900" cy="15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2"/>
          <p:cNvSpPr/>
          <p:nvPr/>
        </p:nvSpPr>
        <p:spPr>
          <a:xfrm>
            <a:off x="1390650" y="6921341"/>
            <a:ext cx="203723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03· CONSENSUS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46190" y="6959441"/>
            <a:ext cx="239776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RIGHETTI 2013 · SAAB 2013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90650" y="7275671"/>
            <a:ext cx="7495413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stability requires QP wrench distribution.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390650" y="8205311"/>
            <a:ext cx="7495413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contact model is rigid or compliant, all serious WBC systems solve a QP to distribute forces across contacts and enforce friction-cone constraints.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77350" y="6639401"/>
            <a:ext cx="7962900" cy="2885758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9" name="Shape 27"/>
          <p:cNvSpPr/>
          <p:nvPr/>
        </p:nvSpPr>
        <p:spPr>
          <a:xfrm>
            <a:off x="9277350" y="6639401"/>
            <a:ext cx="7962900" cy="15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0" name="Text 28"/>
          <p:cNvSpPr/>
          <p:nvPr/>
        </p:nvSpPr>
        <p:spPr>
          <a:xfrm>
            <a:off x="9620250" y="6921341"/>
            <a:ext cx="203723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04· CONSENSUS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2781" y="6959441"/>
            <a:ext cx="234076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ASAP 2025 · POLYSIM 2025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20250" y="7275671"/>
            <a:ext cx="7495413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sim-to-real gap persists for contact-rich tasks.</a:t>
            </a:r>
            <a:endParaRPr lang="en-US" sz="2850" dirty="0"/>
          </a:p>
        </p:txBody>
      </p:sp>
      <p:sp>
        <p:nvSpPr>
          <p:cNvPr id="33" name="Text 31"/>
          <p:cNvSpPr/>
          <p:nvPr/>
        </p:nvSpPr>
        <p:spPr>
          <a:xfrm>
            <a:off x="9620250" y="8205311"/>
            <a:ext cx="7495413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randomization handles flat-ground walking. Stair climbing and sustained-contact manipulation remain unsolved in simulation-to-hardware transfer.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4289564" y="152400"/>
            <a:ext cx="303920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· LITERATURE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07/18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440944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THE METHODOLOGICAL GAP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38361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A33A28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194107" y="952500"/>
            <a:ext cx="412247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REPRODUCIBILITY CRISIS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reproducibility problem in WBC.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047750" y="2275364"/>
            <a:ext cx="14716125" cy="830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compare papers because everyone uses a different robot, simulator, scenario and metric. This is the field's biggest unsolved </a:t>
            </a:r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methodological</a:t>
            </a:r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3448844"/>
            <a:ext cx="10439400" cy="6076156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3448844"/>
            <a:ext cx="171450" cy="9525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" y="3448844"/>
            <a:ext cx="9525" cy="171450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15700" y="3448844"/>
            <a:ext cx="171450" cy="9525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77625" y="3448844"/>
            <a:ext cx="9525" cy="171450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9515475"/>
            <a:ext cx="171450" cy="9525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7750" y="9353550"/>
            <a:ext cx="9525" cy="171450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15700" y="9515475"/>
            <a:ext cx="171450" cy="9525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77625" y="9353550"/>
            <a:ext cx="9525" cy="171450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1276350" y="3677444"/>
            <a:ext cx="1028166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OF WBC EVALUATION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76350" y="4458494"/>
            <a:ext cx="9982200" cy="15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1409700" y="4123214"/>
            <a:ext cx="217519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75393" y="4123214"/>
            <a:ext cx="147335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39251" y="4123214"/>
            <a:ext cx="153289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62641" y="4123214"/>
            <a:ext cx="192420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77350" y="4123214"/>
            <a:ext cx="19240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276350" y="5033804"/>
            <a:ext cx="99822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409700" y="4607084"/>
            <a:ext cx="2175193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Koolen 2016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3775393" y="4607084"/>
            <a:ext cx="1473359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39251" y="4607084"/>
            <a:ext cx="1532890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62641" y="4607084"/>
            <a:ext cx="1924209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77350" y="4607084"/>
            <a:ext cx="1924050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ZMP margin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76350" y="5597684"/>
            <a:ext cx="99822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09700" y="5174774"/>
            <a:ext cx="217519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Sleiman 2021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3775393" y="5174774"/>
            <a:ext cx="147335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ANYmal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39251" y="5174774"/>
            <a:ext cx="15328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62641" y="5174774"/>
            <a:ext cx="192420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277350" y="5174774"/>
            <a:ext cx="1924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76350" y="6161564"/>
            <a:ext cx="99822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409700" y="5738654"/>
            <a:ext cx="217519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Romualdi 2023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3775393" y="5738654"/>
            <a:ext cx="147335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iCub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39251" y="5738654"/>
            <a:ext cx="15328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Gazebo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62641" y="5738654"/>
            <a:ext cx="192420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recovery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277350" y="5738654"/>
            <a:ext cx="1924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time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276350" y="6725444"/>
            <a:ext cx="99822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409700" y="6302534"/>
            <a:ext cx="217519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ASAP 2025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3775393" y="6302534"/>
            <a:ext cx="147335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Unitree H1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439251" y="6302534"/>
            <a:ext cx="15328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IsaacGym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162641" y="6302534"/>
            <a:ext cx="192420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Locomotion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277350" y="6302534"/>
            <a:ext cx="1924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reward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76350" y="7289323"/>
            <a:ext cx="99822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409700" y="6866413"/>
            <a:ext cx="217519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PolySim 2025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3775393" y="6866413"/>
            <a:ext cx="147335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439251" y="6866413"/>
            <a:ext cx="15328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162641" y="6866413"/>
            <a:ext cx="192420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277350" y="6866413"/>
            <a:ext cx="1924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276350" y="7472204"/>
            <a:ext cx="99822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276350" y="7613174"/>
            <a:ext cx="515146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pPr algn="l" indent="0" marL="0">
              <a:buNone/>
            </a:pPr>
            <a:r>
              <a:rPr lang="en-US" sz="1200" spc="7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not reported · units inconsistent · scenarios non-standardized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2020550" y="4649946"/>
            <a:ext cx="52197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2020550" y="3448844"/>
            <a:ext cx="584676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200" dirty="0"/>
          </a:p>
        </p:txBody>
      </p:sp>
      <p:sp>
        <p:nvSpPr>
          <p:cNvPr id="60" name="Text 58"/>
          <p:cNvSpPr/>
          <p:nvPr/>
        </p:nvSpPr>
        <p:spPr>
          <a:xfrm>
            <a:off x="12700476" y="3971766"/>
            <a:ext cx="4675967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using the same robot + sim + scenario + metric set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12020550" y="5804376"/>
            <a:ext cx="52197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2020550" y="4848066"/>
            <a:ext cx="584676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B88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0" dirty="0"/>
          </a:p>
        </p:txBody>
      </p:sp>
      <p:sp>
        <p:nvSpPr>
          <p:cNvPr id="63" name="Text 61"/>
          <p:cNvSpPr/>
          <p:nvPr/>
        </p:nvSpPr>
        <p:spPr>
          <a:xfrm>
            <a:off x="12700476" y="5370988"/>
            <a:ext cx="4003276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simulators across these 5 papers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12020550" y="7203599"/>
            <a:ext cx="52197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2020550" y="6002496"/>
            <a:ext cx="650399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∅</a:t>
            </a:r>
            <a:endParaRPr lang="en-US" sz="7200" dirty="0"/>
          </a:p>
        </p:txBody>
      </p:sp>
      <p:sp>
        <p:nvSpPr>
          <p:cNvPr id="66" name="Text 64"/>
          <p:cNvSpPr/>
          <p:nvPr/>
        </p:nvSpPr>
        <p:spPr>
          <a:xfrm>
            <a:off x="12766199" y="6525419"/>
            <a:ext cx="4608273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cross-paper benchmarks · comparison is impossible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2020550" y="7477919"/>
            <a:ext cx="5219700" cy="9753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8" name="Text 66"/>
          <p:cNvSpPr/>
          <p:nvPr/>
        </p:nvSpPr>
        <p:spPr>
          <a:xfrm>
            <a:off x="12249150" y="7668419"/>
            <a:ext cx="4919091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can't tell if controller A is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B — or just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an easier scenario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4289564" y="152400"/>
            <a:ext cx="303920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· LITERATURE</a:t>
            </a:r>
            <a:endParaRPr lang="en-US" sz="1650" dirty="0"/>
          </a:p>
        </p:txBody>
      </p:sp>
      <p:sp>
        <p:nvSpPr>
          <p:cNvPr id="71" name="Shape 69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08/18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2290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 OF 4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871436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127182" y="952500"/>
            <a:ext cx="159988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TALOS — the only realistic, fully torque-controlled platform.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2503964"/>
            <a:ext cx="3905250" cy="2857500"/>
          </a:xfrm>
          <a:prstGeom prst="rect">
            <a:avLst/>
          </a:prstGeom>
          <a:solidFill>
            <a:srgbClr val="E8E2D4">
              <a:alpha val="85000"/>
            </a:srgbClr>
          </a:solidFill>
          <a:ln w="7620">
            <a:solidFill>
              <a:srgbClr val="0F1B2D">
                <a:alpha val="11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3020" y="2740184"/>
            <a:ext cx="125618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REJECTED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03020" y="3048794"/>
            <a:ext cx="34965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Unitree H1/G1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03020" y="3502184"/>
            <a:ext cx="349655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POSITION-CONTROLLED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03020" y="3810794"/>
            <a:ext cx="339471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03020" y="39327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0504" y="3932714"/>
            <a:ext cx="12301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in RL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03020" y="42375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90504" y="4237514"/>
            <a:ext cx="185467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torque-controlled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03020" y="45423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0504" y="4542314"/>
            <a:ext cx="2193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dynamics access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43500" y="2503964"/>
            <a:ext cx="3905250" cy="2857500"/>
          </a:xfrm>
          <a:prstGeom prst="rect">
            <a:avLst/>
          </a:prstGeom>
          <a:solidFill>
            <a:srgbClr val="E8E2D4">
              <a:alpha val="85000"/>
            </a:srgbClr>
          </a:solidFill>
          <a:ln w="7620">
            <a:solidFill>
              <a:srgbClr val="0F1B2D">
                <a:alpha val="11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8770" y="2740184"/>
            <a:ext cx="125618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REJECTED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8770" y="3048794"/>
            <a:ext cx="34965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Dynamics Atlas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98770" y="3502184"/>
            <a:ext cx="349655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CLOSED-SOURCE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8770" y="3810794"/>
            <a:ext cx="339471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398770" y="39327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86254" y="3932714"/>
            <a:ext cx="17486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benchmark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98770" y="42375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86254" y="4237514"/>
            <a:ext cx="14524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URDF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98770" y="45423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86254" y="4542314"/>
            <a:ext cx="147367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reproducible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239250" y="2503964"/>
            <a:ext cx="3905250" cy="2857500"/>
          </a:xfrm>
          <a:prstGeom prst="rect">
            <a:avLst/>
          </a:prstGeom>
          <a:solidFill>
            <a:srgbClr val="E8E2D4">
              <a:alpha val="85000"/>
            </a:srgbClr>
          </a:solidFill>
          <a:ln w="7620">
            <a:solidFill>
              <a:srgbClr val="0F1B2D">
                <a:alpha val="11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94520" y="2740184"/>
            <a:ext cx="125618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REJECTED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94520" y="3048794"/>
            <a:ext cx="349655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simplified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494520" y="3502184"/>
            <a:ext cx="349655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 MODEL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494520" y="3810794"/>
            <a:ext cx="339471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494520" y="39327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82004" y="3932714"/>
            <a:ext cx="12299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to build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494520" y="42375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682004" y="4237514"/>
            <a:ext cx="11134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abstract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494520" y="45423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82004" y="4542314"/>
            <a:ext cx="14311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B2D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transferable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3335000" y="2503964"/>
            <a:ext cx="3905250" cy="2857500"/>
          </a:xfrm>
          <a:prstGeom prst="rect">
            <a:avLst/>
          </a:prstGeom>
          <a:solidFill>
            <a:srgbClr val="0F1B2D"/>
          </a:solidFill>
          <a:ln w="15240">
            <a:solidFill>
              <a:srgbClr val="C04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50240" y="2519204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4" name="Shape 42"/>
          <p:cNvSpPr/>
          <p:nvPr/>
        </p:nvSpPr>
        <p:spPr>
          <a:xfrm>
            <a:off x="13350240" y="2519204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5" name="Shape 43"/>
          <p:cNvSpPr/>
          <p:nvPr/>
        </p:nvSpPr>
        <p:spPr>
          <a:xfrm>
            <a:off x="17053560" y="2519204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6" name="Shape 44"/>
          <p:cNvSpPr/>
          <p:nvPr/>
        </p:nvSpPr>
        <p:spPr>
          <a:xfrm>
            <a:off x="17215485" y="2519204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7" name="Shape 45"/>
          <p:cNvSpPr/>
          <p:nvPr/>
        </p:nvSpPr>
        <p:spPr>
          <a:xfrm>
            <a:off x="13350240" y="5336699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8" name="Shape 46"/>
          <p:cNvSpPr/>
          <p:nvPr/>
        </p:nvSpPr>
        <p:spPr>
          <a:xfrm>
            <a:off x="13350240" y="5174774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9" name="Shape 47"/>
          <p:cNvSpPr/>
          <p:nvPr/>
        </p:nvSpPr>
        <p:spPr>
          <a:xfrm>
            <a:off x="17053560" y="5336699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0" name="Shape 48"/>
          <p:cNvSpPr/>
          <p:nvPr/>
        </p:nvSpPr>
        <p:spPr>
          <a:xfrm>
            <a:off x="17215485" y="5174774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1" name="Text 49"/>
          <p:cNvSpPr/>
          <p:nvPr/>
        </p:nvSpPr>
        <p:spPr>
          <a:xfrm>
            <a:off x="13597890" y="2747804"/>
            <a:ext cx="108013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CHOSEN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97890" y="3086894"/>
            <a:ext cx="348085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TALOS · PAL Robotics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13597890" y="3540284"/>
            <a:ext cx="348085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DOF · TORQUE-CONTROLLED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3597890" y="3848894"/>
            <a:ext cx="337947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3597890" y="39708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3785374" y="3970814"/>
            <a:ext cx="11241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EEE5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URDF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3597890" y="42756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13785374" y="4275614"/>
            <a:ext cx="18865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EEE5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Pinocchio-compatible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3597890" y="4580414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3785374" y="4580414"/>
            <a:ext cx="20132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EEE5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WBC literature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3597890" y="4885213"/>
            <a:ext cx="1874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3785374" y="4885213"/>
            <a:ext cx="19111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EEE5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Year-3 platform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1047750" y="5628163"/>
            <a:ext cx="16192500" cy="39719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4" name="Shape 62"/>
          <p:cNvSpPr/>
          <p:nvPr/>
        </p:nvSpPr>
        <p:spPr>
          <a:xfrm>
            <a:off x="1047750" y="5628163"/>
            <a:ext cx="3305175" cy="3971925"/>
          </a:xfrm>
          <a:prstGeom prst="rect">
            <a:avLst/>
          </a:prstGeom>
          <a:solidFill>
            <a:srgbClr val="0D1420"/>
          </a:solidFill>
          <a:ln/>
        </p:spPr>
      </p:sp>
      <p:sp>
        <p:nvSpPr>
          <p:cNvPr id="65" name="Shape 63"/>
          <p:cNvSpPr/>
          <p:nvPr/>
        </p:nvSpPr>
        <p:spPr>
          <a:xfrm>
            <a:off x="4345305" y="5628163"/>
            <a:ext cx="9525" cy="3971925"/>
          </a:xfrm>
          <a:prstGeom prst="rect">
            <a:avLst/>
          </a:prstGeom>
          <a:solidFill>
            <a:srgbClr val="C04A2A">
              <a:alpha val="25000"/>
            </a:srgbClr>
          </a:solidFill>
          <a:ln/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903" y="5375751"/>
            <a:ext cx="2381250" cy="4476750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4560570" y="7159784"/>
            <a:ext cx="1130394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TALOS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4560570" y="7449344"/>
            <a:ext cx="1130394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Pinocchio dynamic model · torque control compatible with QP-WBC</a:t>
            </a:r>
            <a:pPr algn="l" indent="0" marL="0">
              <a:lnSpc>
                <a:spcPct val="125000"/>
              </a:lnSpc>
              <a:buNone/>
            </a:pPr>
            <a:r>
              <a:rPr lang="en-US" sz="1950" i="1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RL · community-validated in WBC papers · most likely starting point when university hardware arrives.</a:t>
            </a:r>
            <a:endParaRPr lang="en-US" sz="1950" dirty="0"/>
          </a:p>
        </p:txBody>
      </p:sp>
      <p:sp>
        <p:nvSpPr>
          <p:cNvPr id="69" name="Shape 66"/>
          <p:cNvSpPr/>
          <p:nvPr/>
        </p:nvSpPr>
        <p:spPr>
          <a:xfrm>
            <a:off x="15594489" y="5628163"/>
            <a:ext cx="9525" cy="3971925"/>
          </a:xfrm>
          <a:prstGeom prst="rect">
            <a:avLst/>
          </a:prstGeom>
          <a:solidFill>
            <a:srgbClr val="C04A2A">
              <a:alpha val="25000"/>
            </a:srgbClr>
          </a:solidFill>
          <a:ln/>
        </p:spPr>
      </p:sp>
      <p:sp>
        <p:nvSpPr>
          <p:cNvPr id="70" name="Text 67"/>
          <p:cNvSpPr/>
          <p:nvPr/>
        </p:nvSpPr>
        <p:spPr>
          <a:xfrm>
            <a:off x="16076136" y="7385526"/>
            <a:ext cx="93551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DOF</a:t>
            </a:r>
            <a:endParaRPr lang="en-US" sz="1650" dirty="0"/>
          </a:p>
        </p:txBody>
      </p:sp>
      <p:sp>
        <p:nvSpPr>
          <p:cNvPr id="71" name="Text 68"/>
          <p:cNvSpPr/>
          <p:nvPr/>
        </p:nvSpPr>
        <p:spPr>
          <a:xfrm>
            <a:off x="15906908" y="7705566"/>
            <a:ext cx="1104741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 ROBOTICS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73" name="Text 70"/>
          <p:cNvSpPr/>
          <p:nvPr/>
        </p:nvSpPr>
        <p:spPr>
          <a:xfrm>
            <a:off x="14441964" y="152400"/>
            <a:ext cx="28822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· DECISIONS</a:t>
            </a:r>
            <a:endParaRPr lang="en-US" sz="1650" dirty="0"/>
          </a:p>
        </p:txBody>
      </p:sp>
      <p:sp>
        <p:nvSpPr>
          <p:cNvPr id="74" name="Shape 71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75" name="Text 72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76" name="Text 73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09/18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2290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 OF 4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871436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127182" y="952500"/>
            <a:ext cx="219186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SIMULATOR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MuJoCo — fastest, most accurate, most compatible.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2503964"/>
            <a:ext cx="9112250" cy="7164705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2503964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2503964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Shape 10"/>
          <p:cNvSpPr/>
          <p:nvPr/>
        </p:nvSpPr>
        <p:spPr>
          <a:xfrm>
            <a:off x="9988550" y="2503964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50475" y="2503964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9659144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9497219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Shape 14"/>
          <p:cNvSpPr/>
          <p:nvPr/>
        </p:nvSpPr>
        <p:spPr>
          <a:xfrm>
            <a:off x="9988550" y="9659144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0475" y="9497219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8" name="Text 16"/>
          <p:cNvSpPr/>
          <p:nvPr/>
        </p:nvSpPr>
        <p:spPr>
          <a:xfrm>
            <a:off x="1390650" y="2808764"/>
            <a:ext cx="867924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· NORMALIZED 0–100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390650" y="3799364"/>
            <a:ext cx="842645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90650" y="3330734"/>
            <a:ext cx="1790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Gazebo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3295650" y="3422174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95650" y="3422174"/>
            <a:ext cx="471805" cy="152400"/>
          </a:xfrm>
          <a:prstGeom prst="rect">
            <a:avLst/>
          </a:prstGeom>
          <a:solidFill>
            <a:srgbClr val="2C3A52"/>
          </a:solidFill>
          <a:ln/>
        </p:spPr>
      </p:sp>
      <p:sp>
        <p:nvSpPr>
          <p:cNvPr id="23" name="Text 21"/>
          <p:cNvSpPr/>
          <p:nvPr/>
        </p:nvSpPr>
        <p:spPr>
          <a:xfrm>
            <a:off x="4838541" y="3403124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34414" y="3422174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34414" y="3422174"/>
            <a:ext cx="808831" cy="1524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6" name="Text 24"/>
          <p:cNvSpPr/>
          <p:nvPr/>
        </p:nvSpPr>
        <p:spPr>
          <a:xfrm>
            <a:off x="6377305" y="3403124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73177" y="3422174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73177" y="3422174"/>
            <a:ext cx="1011079" cy="15240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29" name="Text 27"/>
          <p:cNvSpPr/>
          <p:nvPr/>
        </p:nvSpPr>
        <p:spPr>
          <a:xfrm>
            <a:off x="7916069" y="3403124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35741" y="3410744"/>
            <a:ext cx="19812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48" kern="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than real-time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90650" y="4408964"/>
            <a:ext cx="842645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390650" y="3940334"/>
            <a:ext cx="1790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PyBullet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3295650" y="4031774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95650" y="4031774"/>
            <a:ext cx="943769" cy="152400"/>
          </a:xfrm>
          <a:prstGeom prst="rect">
            <a:avLst/>
          </a:prstGeom>
          <a:solidFill>
            <a:srgbClr val="2C3A52"/>
          </a:solidFill>
          <a:ln/>
        </p:spPr>
      </p:sp>
      <p:sp>
        <p:nvSpPr>
          <p:cNvPr id="35" name="Text 33"/>
          <p:cNvSpPr/>
          <p:nvPr/>
        </p:nvSpPr>
        <p:spPr>
          <a:xfrm>
            <a:off x="4838541" y="4012724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34414" y="4031774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34414" y="4031774"/>
            <a:ext cx="404336" cy="1524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8" name="Text 36"/>
          <p:cNvSpPr/>
          <p:nvPr/>
        </p:nvSpPr>
        <p:spPr>
          <a:xfrm>
            <a:off x="6377305" y="4012724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73177" y="4031774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73177" y="4031774"/>
            <a:ext cx="1078547" cy="15240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41" name="Text 39"/>
          <p:cNvSpPr/>
          <p:nvPr/>
        </p:nvSpPr>
        <p:spPr>
          <a:xfrm>
            <a:off x="7916069" y="4012724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35741" y="4020344"/>
            <a:ext cx="19812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48" kern="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 foot contacts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390650" y="5018564"/>
            <a:ext cx="842645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390650" y="4549934"/>
            <a:ext cx="17907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IsaacGym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3295650" y="4641374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295650" y="4641374"/>
            <a:ext cx="1280795" cy="152400"/>
          </a:xfrm>
          <a:prstGeom prst="rect">
            <a:avLst/>
          </a:prstGeom>
          <a:solidFill>
            <a:srgbClr val="2C3A52"/>
          </a:solidFill>
          <a:ln/>
        </p:spPr>
      </p:sp>
      <p:sp>
        <p:nvSpPr>
          <p:cNvPr id="47" name="Text 45"/>
          <p:cNvSpPr/>
          <p:nvPr/>
        </p:nvSpPr>
        <p:spPr>
          <a:xfrm>
            <a:off x="4838541" y="4622324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34414" y="4641374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834414" y="4641374"/>
            <a:ext cx="1011079" cy="1524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0" name="Text 48"/>
          <p:cNvSpPr/>
          <p:nvPr/>
        </p:nvSpPr>
        <p:spPr>
          <a:xfrm>
            <a:off x="6377305" y="4622324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73177" y="4641374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73177" y="4641374"/>
            <a:ext cx="808831" cy="15240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53" name="Text 51"/>
          <p:cNvSpPr/>
          <p:nvPr/>
        </p:nvSpPr>
        <p:spPr>
          <a:xfrm>
            <a:off x="7916069" y="4622324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835741" y="4629944"/>
            <a:ext cx="19812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48" kern="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license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390650" y="5963444"/>
            <a:ext cx="842645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390650" y="5159534"/>
            <a:ext cx="179070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MuJoCo </a:t>
            </a:r>
            <a:pPr algn="l" indent="0" marL="0">
              <a:buNone/>
            </a:pPr>
            <a:r>
              <a:rPr lang="en-US" sz="1050" b="1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CHOSEN</a:t>
            </a:r>
            <a:endParaRPr lang="en-US" sz="2250" dirty="0"/>
          </a:p>
        </p:txBody>
      </p:sp>
      <p:sp>
        <p:nvSpPr>
          <p:cNvPr id="57" name="Shape 55"/>
          <p:cNvSpPr/>
          <p:nvPr/>
        </p:nvSpPr>
        <p:spPr>
          <a:xfrm>
            <a:off x="3295650" y="5418613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295650" y="5418613"/>
            <a:ext cx="1348264" cy="152400"/>
          </a:xfrm>
          <a:prstGeom prst="rect">
            <a:avLst/>
          </a:prstGeom>
          <a:solidFill>
            <a:srgbClr val="2C3A52"/>
          </a:solidFill>
          <a:ln/>
        </p:spPr>
      </p:sp>
      <p:sp>
        <p:nvSpPr>
          <p:cNvPr id="59" name="Text 57"/>
          <p:cNvSpPr/>
          <p:nvPr/>
        </p:nvSpPr>
        <p:spPr>
          <a:xfrm>
            <a:off x="4764405" y="5399563"/>
            <a:ext cx="29860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834414" y="5418613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834414" y="5418613"/>
            <a:ext cx="1280795" cy="1524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62" name="Text 60"/>
          <p:cNvSpPr/>
          <p:nvPr/>
        </p:nvSpPr>
        <p:spPr>
          <a:xfrm>
            <a:off x="6377305" y="5399563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373177" y="5418613"/>
            <a:ext cx="1348264" cy="15240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373177" y="5418613"/>
            <a:ext cx="1280795" cy="15240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65" name="Text 63"/>
          <p:cNvSpPr/>
          <p:nvPr/>
        </p:nvSpPr>
        <p:spPr>
          <a:xfrm>
            <a:off x="7916069" y="5399563"/>
            <a:ext cx="2244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835741" y="5407184"/>
            <a:ext cx="19812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48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green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390650" y="6180613"/>
            <a:ext cx="842645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390650" y="6399688"/>
            <a:ext cx="171450" cy="57150"/>
          </a:xfrm>
          <a:prstGeom prst="rect">
            <a:avLst/>
          </a:prstGeom>
          <a:solidFill>
            <a:srgbClr val="2C3A52"/>
          </a:solidFill>
          <a:ln/>
        </p:spPr>
      </p:sp>
      <p:sp>
        <p:nvSpPr>
          <p:cNvPr id="69" name="Text 67"/>
          <p:cNvSpPr/>
          <p:nvPr/>
        </p:nvSpPr>
        <p:spPr>
          <a:xfrm>
            <a:off x="1638300" y="6344444"/>
            <a:ext cx="63865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391251" y="6399688"/>
            <a:ext cx="171450" cy="571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71" name="Text 69"/>
          <p:cNvSpPr/>
          <p:nvPr/>
        </p:nvSpPr>
        <p:spPr>
          <a:xfrm>
            <a:off x="2638901" y="6344444"/>
            <a:ext cx="18457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ACCURACY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598987" y="6399688"/>
            <a:ext cx="171450" cy="5715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73" name="Text 71"/>
          <p:cNvSpPr/>
          <p:nvPr/>
        </p:nvSpPr>
        <p:spPr>
          <a:xfrm>
            <a:off x="4846637" y="6344444"/>
            <a:ext cx="109108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API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0731500" y="2503964"/>
            <a:ext cx="6508750" cy="3590925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7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88650" y="2561114"/>
            <a:ext cx="6394450" cy="3476625"/>
          </a:xfrm>
          <a:prstGeom prst="rect">
            <a:avLst/>
          </a:prstGeom>
        </p:spPr>
      </p:pic>
      <p:sp>
        <p:nvSpPr>
          <p:cNvPr id="76" name="Shape 73"/>
          <p:cNvSpPr/>
          <p:nvPr/>
        </p:nvSpPr>
        <p:spPr>
          <a:xfrm>
            <a:off x="10864850" y="2618264"/>
            <a:ext cx="1969135" cy="179070"/>
          </a:xfrm>
          <a:prstGeom prst="rect">
            <a:avLst/>
          </a:prstGeom>
          <a:solidFill>
            <a:srgbClr val="000000">
              <a:alpha val="53000"/>
            </a:srgbClr>
          </a:solidFill>
          <a:ln/>
        </p:spPr>
      </p:sp>
      <p:sp>
        <p:nvSpPr>
          <p:cNvPr id="77" name="Text 74"/>
          <p:cNvSpPr/>
          <p:nvPr/>
        </p:nvSpPr>
        <p:spPr>
          <a:xfrm>
            <a:off x="10941050" y="2646839"/>
            <a:ext cx="189293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MUJOCO VIEWPORT · 1 KHZ</a:t>
            </a:r>
            <a:endParaRPr lang="en-US" sz="825" dirty="0"/>
          </a:p>
        </p:txBody>
      </p:sp>
      <p:sp>
        <p:nvSpPr>
          <p:cNvPr id="78" name="Text 75"/>
          <p:cNvSpPr/>
          <p:nvPr/>
        </p:nvSpPr>
        <p:spPr>
          <a:xfrm>
            <a:off x="10731500" y="6304438"/>
            <a:ext cx="670401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MUJOCO</a:t>
            </a:r>
            <a:endParaRPr lang="en-US" sz="1500" dirty="0"/>
          </a:p>
        </p:txBody>
      </p:sp>
      <p:sp>
        <p:nvSpPr>
          <p:cNvPr id="79" name="Shape 76"/>
          <p:cNvSpPr/>
          <p:nvPr/>
        </p:nvSpPr>
        <p:spPr>
          <a:xfrm>
            <a:off x="10731500" y="7317899"/>
            <a:ext cx="650875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80" name="Text 77"/>
          <p:cNvSpPr/>
          <p:nvPr/>
        </p:nvSpPr>
        <p:spPr>
          <a:xfrm>
            <a:off x="10731500" y="6677819"/>
            <a:ext cx="1691957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4200" dirty="0"/>
          </a:p>
        </p:txBody>
      </p:sp>
      <p:sp>
        <p:nvSpPr>
          <p:cNvPr id="81" name="Text 78"/>
          <p:cNvSpPr/>
          <p:nvPr/>
        </p:nvSpPr>
        <p:spPr>
          <a:xfrm>
            <a:off x="12518708" y="6885463"/>
            <a:ext cx="40968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time → enables 1 kHz control loop</a:t>
            </a:r>
            <a:endParaRPr lang="en-US" sz="1800" dirty="0"/>
          </a:p>
        </p:txBody>
      </p:sp>
      <p:sp>
        <p:nvSpPr>
          <p:cNvPr id="82" name="Shape 79"/>
          <p:cNvSpPr/>
          <p:nvPr/>
        </p:nvSpPr>
        <p:spPr>
          <a:xfrm>
            <a:off x="10731500" y="8098949"/>
            <a:ext cx="650875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83" name="Text 80"/>
          <p:cNvSpPr/>
          <p:nvPr/>
        </p:nvSpPr>
        <p:spPr>
          <a:xfrm>
            <a:off x="10731500" y="7458869"/>
            <a:ext cx="131445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4200" dirty="0"/>
          </a:p>
        </p:txBody>
      </p:sp>
      <p:sp>
        <p:nvSpPr>
          <p:cNvPr id="84" name="Text 81"/>
          <p:cNvSpPr/>
          <p:nvPr/>
        </p:nvSpPr>
        <p:spPr>
          <a:xfrm>
            <a:off x="12141200" y="7666513"/>
            <a:ext cx="46601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open-sourced by DeepMind · no license cost</a:t>
            </a:r>
            <a:endParaRPr lang="en-US" sz="1800" dirty="0"/>
          </a:p>
        </p:txBody>
      </p:sp>
      <p:sp>
        <p:nvSpPr>
          <p:cNvPr id="85" name="Shape 82"/>
          <p:cNvSpPr/>
          <p:nvPr/>
        </p:nvSpPr>
        <p:spPr>
          <a:xfrm>
            <a:off x="10731500" y="8879999"/>
            <a:ext cx="650875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86" name="Text 83"/>
          <p:cNvSpPr/>
          <p:nvPr/>
        </p:nvSpPr>
        <p:spPr>
          <a:xfrm>
            <a:off x="10731500" y="8239919"/>
            <a:ext cx="131445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4200" dirty="0"/>
          </a:p>
        </p:txBody>
      </p:sp>
      <p:sp>
        <p:nvSpPr>
          <p:cNvPr id="87" name="Text 84"/>
          <p:cNvSpPr/>
          <p:nvPr/>
        </p:nvSpPr>
        <p:spPr>
          <a:xfrm>
            <a:off x="12141200" y="8447563"/>
            <a:ext cx="506496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Radosavovic · ASAP · HumanoidBench all use it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10731500" y="9661049"/>
            <a:ext cx="650875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89" name="Text 86"/>
          <p:cNvSpPr/>
          <p:nvPr/>
        </p:nvSpPr>
        <p:spPr>
          <a:xfrm>
            <a:off x="10731500" y="9020969"/>
            <a:ext cx="1373981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∂F/∂q</a:t>
            </a:r>
            <a:endParaRPr lang="en-US" sz="4200" dirty="0"/>
          </a:p>
        </p:txBody>
      </p:sp>
      <p:sp>
        <p:nvSpPr>
          <p:cNvPr id="90" name="Text 87"/>
          <p:cNvSpPr/>
          <p:nvPr/>
        </p:nvSpPr>
        <p:spPr>
          <a:xfrm>
            <a:off x="12200731" y="9228613"/>
            <a:ext cx="408388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forces inspectable per timestep</a:t>
            </a:r>
            <a:endParaRPr lang="en-US" sz="1800" dirty="0"/>
          </a:p>
        </p:txBody>
      </p:sp>
      <p:sp>
        <p:nvSpPr>
          <p:cNvPr id="91" name="Shape 88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92" name="Text 89"/>
          <p:cNvSpPr/>
          <p:nvPr/>
        </p:nvSpPr>
        <p:spPr>
          <a:xfrm>
            <a:off x="14441964" y="152400"/>
            <a:ext cx="28822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· DECISIONS</a:t>
            </a:r>
            <a:endParaRPr lang="en-US" sz="1650" dirty="0"/>
          </a:p>
        </p:txBody>
      </p:sp>
      <p:sp>
        <p:nvSpPr>
          <p:cNvPr id="93" name="Shape 90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94" name="Text 91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95" name="Text 92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10/18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2290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 OF 4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871436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127182" y="952500"/>
            <a:ext cx="412493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ARCHITECTURE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128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two-layer hierarchy: theoretically grounded, real-time capable.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3125788"/>
            <a:ext cx="8829199" cy="6399212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3125788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3125788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5499" y="3125788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9867423" y="3125788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9515475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9353550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6" name="Shape 14"/>
          <p:cNvSpPr/>
          <p:nvPr/>
        </p:nvSpPr>
        <p:spPr>
          <a:xfrm>
            <a:off x="9705499" y="9515475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7423" y="9353550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8" name="Text 16"/>
          <p:cNvSpPr/>
          <p:nvPr/>
        </p:nvSpPr>
        <p:spPr>
          <a:xfrm>
            <a:off x="1390650" y="3430588"/>
            <a:ext cx="795602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CONTROL ARCHITECTURE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390650" y="3895408"/>
            <a:ext cx="7106285" cy="577215"/>
          </a:xfrm>
          <a:prstGeom prst="rect">
            <a:avLst/>
          </a:prstGeom>
          <a:solidFill>
            <a:srgbClr val="F2EEE5"/>
          </a:solidFill>
          <a:ln w="15240">
            <a:solidFill>
              <a:srgbClr val="0F1B2D">
                <a:alpha val="33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6390" y="4104005"/>
            <a:ext cx="5826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93302" y="4043997"/>
            <a:ext cx="5981614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references + state estimate</a:t>
            </a:r>
            <a:endParaRPr lang="en-US" sz="2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4529772"/>
            <a:ext cx="171450" cy="304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943100" y="4602163"/>
            <a:ext cx="103044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· Q̂, Q̇̂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390650" y="4891722"/>
            <a:ext cx="7106285" cy="577215"/>
          </a:xfrm>
          <a:prstGeom prst="rect">
            <a:avLst/>
          </a:prstGeom>
          <a:solidFill>
            <a:srgbClr val="F2EEE5"/>
          </a:solidFill>
          <a:ln w="15240">
            <a:solidFill>
              <a:srgbClr val="C04A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96390" y="5100320"/>
            <a:ext cx="151066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100 HZ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221355" y="5040313"/>
            <a:ext cx="4333735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Centroidal MPC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7619365" y="5100320"/>
            <a:ext cx="74803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Crocoddyl</a:t>
            </a:r>
            <a:endParaRPr lang="en-US" sz="10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5526088"/>
            <a:ext cx="171450" cy="3048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943100" y="5598477"/>
            <a:ext cx="325422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TRAJECTORY · CONTACT FORCE REFS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1390650" y="5888038"/>
            <a:ext cx="7106285" cy="577215"/>
          </a:xfrm>
          <a:prstGeom prst="rect">
            <a:avLst/>
          </a:prstGeom>
          <a:solidFill>
            <a:srgbClr val="F2EEE5"/>
          </a:solidFill>
          <a:ln w="15240">
            <a:solidFill>
              <a:srgbClr val="1E5B7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596390" y="6096635"/>
            <a:ext cx="143002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1E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1 KHZ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3140710" y="6036627"/>
            <a:ext cx="3913181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QP-WBC</a:t>
            </a:r>
            <a:endParaRPr lang="en-US" sz="2100" dirty="0"/>
          </a:p>
        </p:txBody>
      </p:sp>
      <p:sp>
        <p:nvSpPr>
          <p:cNvPr id="33" name="Text 29"/>
          <p:cNvSpPr/>
          <p:nvPr/>
        </p:nvSpPr>
        <p:spPr>
          <a:xfrm>
            <a:off x="7130415" y="6096635"/>
            <a:ext cx="123698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Pinocchio + TSID</a:t>
            </a:r>
            <a:endParaRPr lang="en-US" sz="105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6522402"/>
            <a:ext cx="171450" cy="3048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943100" y="6594793"/>
            <a:ext cx="20043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 — JOINT TORQUES (N·M)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1390650" y="6884352"/>
            <a:ext cx="7106285" cy="577215"/>
          </a:xfrm>
          <a:prstGeom prst="rect">
            <a:avLst/>
          </a:prstGeom>
          <a:solidFill>
            <a:srgbClr val="0F1B2D"/>
          </a:solidFill>
          <a:ln w="15240">
            <a:solidFill>
              <a:srgbClr val="0F1B2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596390" y="7092950"/>
            <a:ext cx="61229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2322989" y="7032943"/>
            <a:ext cx="5951037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TALOS in MuJoCo</a:t>
            </a:r>
            <a:endParaRPr lang="en-US" sz="21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349" y="3887788"/>
            <a:ext cx="342900" cy="9525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 rot="-5400000">
            <a:off x="8410416" y="6244432"/>
            <a:ext cx="14668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FEEDBACK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10448448" y="3125788"/>
            <a:ext cx="699555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 · ONE VIABLE</a:t>
            </a:r>
            <a:endParaRPr lang="en-US" sz="1350" dirty="0"/>
          </a:p>
        </p:txBody>
      </p:sp>
      <p:sp>
        <p:nvSpPr>
          <p:cNvPr id="42" name="Shape 36"/>
          <p:cNvSpPr/>
          <p:nvPr/>
        </p:nvSpPr>
        <p:spPr>
          <a:xfrm>
            <a:off x="10448448" y="4333558"/>
            <a:ext cx="6791801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10448448" y="3609658"/>
            <a:ext cx="457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50" dirty="0"/>
          </a:p>
        </p:txBody>
      </p:sp>
      <p:sp>
        <p:nvSpPr>
          <p:cNvPr id="44" name="Text 38"/>
          <p:cNvSpPr/>
          <p:nvPr/>
        </p:nvSpPr>
        <p:spPr>
          <a:xfrm>
            <a:off x="10981848" y="3609658"/>
            <a:ext cx="644615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QP-WBC</a:t>
            </a:r>
            <a:endParaRPr lang="en-US" sz="2100" dirty="0"/>
          </a:p>
        </p:txBody>
      </p:sp>
      <p:sp>
        <p:nvSpPr>
          <p:cNvPr id="45" name="Text 39"/>
          <p:cNvSpPr/>
          <p:nvPr/>
        </p:nvSpPr>
        <p:spPr>
          <a:xfrm>
            <a:off x="10981848" y="3927793"/>
            <a:ext cx="644615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only · no predictive contact planning</a:t>
            </a:r>
            <a:endParaRPr lang="en-US" sz="1650" dirty="0"/>
          </a:p>
        </p:txBody>
      </p:sp>
      <p:sp>
        <p:nvSpPr>
          <p:cNvPr id="46" name="Shape 40"/>
          <p:cNvSpPr/>
          <p:nvPr/>
        </p:nvSpPr>
        <p:spPr>
          <a:xfrm>
            <a:off x="10448448" y="5198427"/>
            <a:ext cx="6791801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7" name="Text 41"/>
          <p:cNvSpPr/>
          <p:nvPr/>
        </p:nvSpPr>
        <p:spPr>
          <a:xfrm>
            <a:off x="10448448" y="4474527"/>
            <a:ext cx="457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50" dirty="0"/>
          </a:p>
        </p:txBody>
      </p:sp>
      <p:sp>
        <p:nvSpPr>
          <p:cNvPr id="48" name="Text 42"/>
          <p:cNvSpPr/>
          <p:nvPr/>
        </p:nvSpPr>
        <p:spPr>
          <a:xfrm>
            <a:off x="10981848" y="4474527"/>
            <a:ext cx="644615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MPC</a:t>
            </a:r>
            <a:endParaRPr lang="en-US" sz="2100" dirty="0"/>
          </a:p>
        </p:txBody>
      </p:sp>
      <p:sp>
        <p:nvSpPr>
          <p:cNvPr id="49" name="Text 43"/>
          <p:cNvSpPr/>
          <p:nvPr/>
        </p:nvSpPr>
        <p:spPr>
          <a:xfrm>
            <a:off x="10981848" y="4792663"/>
            <a:ext cx="644615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slow at 1 kHz · joint limits hard</a:t>
            </a:r>
            <a:endParaRPr lang="en-US" sz="1650" dirty="0"/>
          </a:p>
        </p:txBody>
      </p:sp>
      <p:sp>
        <p:nvSpPr>
          <p:cNvPr id="50" name="Shape 44"/>
          <p:cNvSpPr/>
          <p:nvPr/>
        </p:nvSpPr>
        <p:spPr>
          <a:xfrm>
            <a:off x="10448448" y="6063297"/>
            <a:ext cx="6791801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51" name="Text 45"/>
          <p:cNvSpPr/>
          <p:nvPr/>
        </p:nvSpPr>
        <p:spPr>
          <a:xfrm>
            <a:off x="10448448" y="5339397"/>
            <a:ext cx="457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50" dirty="0"/>
          </a:p>
        </p:txBody>
      </p:sp>
      <p:sp>
        <p:nvSpPr>
          <p:cNvPr id="52" name="Text 46"/>
          <p:cNvSpPr/>
          <p:nvPr/>
        </p:nvSpPr>
        <p:spPr>
          <a:xfrm>
            <a:off x="10981848" y="5339397"/>
            <a:ext cx="6446153" cy="31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RL</a:t>
            </a:r>
            <a:endParaRPr lang="en-US" sz="2100" dirty="0"/>
          </a:p>
        </p:txBody>
      </p:sp>
      <p:sp>
        <p:nvSpPr>
          <p:cNvPr id="53" name="Text 47"/>
          <p:cNvSpPr/>
          <p:nvPr/>
        </p:nvSpPr>
        <p:spPr>
          <a:xfrm>
            <a:off x="10981848" y="5657533"/>
            <a:ext cx="644615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Data-hungry · black-box · not generalizable</a:t>
            </a:r>
            <a:endParaRPr lang="en-US" sz="1650" dirty="0"/>
          </a:p>
        </p:txBody>
      </p:sp>
      <p:sp>
        <p:nvSpPr>
          <p:cNvPr id="54" name="Shape 48"/>
          <p:cNvSpPr/>
          <p:nvPr/>
        </p:nvSpPr>
        <p:spPr>
          <a:xfrm>
            <a:off x="10448448" y="6337618"/>
            <a:ext cx="6791801" cy="178117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5" name="Shape 49"/>
          <p:cNvSpPr/>
          <p:nvPr/>
        </p:nvSpPr>
        <p:spPr>
          <a:xfrm>
            <a:off x="10448448" y="6337618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6" name="Shape 50"/>
          <p:cNvSpPr/>
          <p:nvPr/>
        </p:nvSpPr>
        <p:spPr>
          <a:xfrm>
            <a:off x="10448448" y="6337618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7" name="Shape 51"/>
          <p:cNvSpPr/>
          <p:nvPr/>
        </p:nvSpPr>
        <p:spPr>
          <a:xfrm>
            <a:off x="17068800" y="6337618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8" name="Shape 52"/>
          <p:cNvSpPr/>
          <p:nvPr/>
        </p:nvSpPr>
        <p:spPr>
          <a:xfrm>
            <a:off x="17230725" y="6337618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9" name="Shape 53"/>
          <p:cNvSpPr/>
          <p:nvPr/>
        </p:nvSpPr>
        <p:spPr>
          <a:xfrm>
            <a:off x="10448448" y="8109268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60" name="Shape 54"/>
          <p:cNvSpPr/>
          <p:nvPr/>
        </p:nvSpPr>
        <p:spPr>
          <a:xfrm>
            <a:off x="10448448" y="7947343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61" name="Shape 55"/>
          <p:cNvSpPr/>
          <p:nvPr/>
        </p:nvSpPr>
        <p:spPr>
          <a:xfrm>
            <a:off x="17068800" y="8109268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62" name="Shape 56"/>
          <p:cNvSpPr/>
          <p:nvPr/>
        </p:nvSpPr>
        <p:spPr>
          <a:xfrm>
            <a:off x="17230725" y="7947343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63" name="Text 57"/>
          <p:cNvSpPr/>
          <p:nvPr/>
        </p:nvSpPr>
        <p:spPr>
          <a:xfrm>
            <a:off x="10696098" y="6547168"/>
            <a:ext cx="648539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TWO LAYERS</a:t>
            </a:r>
            <a:endParaRPr lang="en-US" sz="1200" dirty="0"/>
          </a:p>
        </p:txBody>
      </p:sp>
      <p:sp>
        <p:nvSpPr>
          <p:cNvPr id="64" name="Text 58"/>
          <p:cNvSpPr/>
          <p:nvPr/>
        </p:nvSpPr>
        <p:spPr>
          <a:xfrm>
            <a:off x="10696098" y="6817677"/>
            <a:ext cx="6485396" cy="855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 handles long-horizon contact prediction; QP-WBC enforces strict task hierarchy and joint limits in real time. Both are model-based — interpretable, debuggable, transferable to hardware.</a:t>
            </a:r>
            <a:endParaRPr lang="en-US" sz="1650" dirty="0"/>
          </a:p>
        </p:txBody>
      </p:sp>
      <p:sp>
        <p:nvSpPr>
          <p:cNvPr id="65" name="Text 59"/>
          <p:cNvSpPr/>
          <p:nvPr/>
        </p:nvSpPr>
        <p:spPr>
          <a:xfrm>
            <a:off x="10696098" y="7749222"/>
            <a:ext cx="648539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on Atlas (Koolen ’16) · HRP-4 (Caron ’19) · ANYmal (Sleiman ’21).</a:t>
            </a:r>
            <a:endParaRPr lang="en-US" sz="1050" dirty="0"/>
          </a:p>
        </p:txBody>
      </p:sp>
      <p:sp>
        <p:nvSpPr>
          <p:cNvPr id="66" name="Shape 60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7" name="Text 61"/>
          <p:cNvSpPr/>
          <p:nvPr/>
        </p:nvSpPr>
        <p:spPr>
          <a:xfrm>
            <a:off x="14441964" y="152400"/>
            <a:ext cx="28822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· DECISIONS</a:t>
            </a:r>
            <a:endParaRPr lang="en-US" sz="1650" dirty="0"/>
          </a:p>
        </p:txBody>
      </p:sp>
      <p:sp>
        <p:nvSpPr>
          <p:cNvPr id="68" name="Shape 62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9" name="Text 63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70" name="Text 64"/>
          <p:cNvSpPr/>
          <p:nvPr/>
        </p:nvSpPr>
        <p:spPr>
          <a:xfrm>
            <a:off x="16497142" y="9890760"/>
            <a:ext cx="81930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11/18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2290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 OF 4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871436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127182" y="952500"/>
            <a:ext cx="268602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CONTRIBUTION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128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novelty is not a new algorithm — it's a reproducible protocol.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3087688"/>
            <a:ext cx="6624955" cy="3279934"/>
          </a:xfrm>
          <a:prstGeom prst="rect">
            <a:avLst/>
          </a:prstGeom>
          <a:solidFill>
            <a:srgbClr val="E8E2D4"/>
          </a:solidFill>
          <a:ln w="15240">
            <a:solidFill>
              <a:srgbClr val="A33A28">
                <a:alpha val="5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1590" y="3293427"/>
            <a:ext cx="632139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3544888"/>
            <a:ext cx="6137275" cy="12382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91590" y="4855527"/>
            <a:ext cx="6321393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paper in its own bubble. No shared protocol. No comparison.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47750" y="6596221"/>
            <a:ext cx="6624955" cy="3279934"/>
          </a:xfrm>
          <a:prstGeom prst="rect">
            <a:avLst/>
          </a:prstGeom>
          <a:solidFill>
            <a:srgbClr val="E8E2D4"/>
          </a:solidFill>
          <a:ln w="15240">
            <a:solidFill>
              <a:srgbClr val="3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1590" y="6801962"/>
            <a:ext cx="632139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3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THIS THESIS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90" y="7053421"/>
            <a:ext cx="6137275" cy="12382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91590" y="8364062"/>
            <a:ext cx="6321393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experiments share S1–S5. Direct, fair comparison becomes possible.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8206105" y="3087688"/>
            <a:ext cx="9034145" cy="678846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8" name="Shape 14"/>
          <p:cNvSpPr/>
          <p:nvPr/>
        </p:nvSpPr>
        <p:spPr>
          <a:xfrm>
            <a:off x="8206105" y="3087688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9" name="Shape 15"/>
          <p:cNvSpPr/>
          <p:nvPr/>
        </p:nvSpPr>
        <p:spPr>
          <a:xfrm>
            <a:off x="8206105" y="3087688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0" name="Shape 16"/>
          <p:cNvSpPr/>
          <p:nvPr/>
        </p:nvSpPr>
        <p:spPr>
          <a:xfrm>
            <a:off x="17068800" y="3087688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1" name="Shape 17"/>
          <p:cNvSpPr/>
          <p:nvPr/>
        </p:nvSpPr>
        <p:spPr>
          <a:xfrm>
            <a:off x="17230725" y="3087688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2" name="Shape 18"/>
          <p:cNvSpPr/>
          <p:nvPr/>
        </p:nvSpPr>
        <p:spPr>
          <a:xfrm>
            <a:off x="8206105" y="9866630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3" name="Shape 19"/>
          <p:cNvSpPr/>
          <p:nvPr/>
        </p:nvSpPr>
        <p:spPr>
          <a:xfrm>
            <a:off x="8206105" y="9704705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4" name="Shape 20"/>
          <p:cNvSpPr/>
          <p:nvPr/>
        </p:nvSpPr>
        <p:spPr>
          <a:xfrm>
            <a:off x="17068800" y="9866630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5" name="Shape 21"/>
          <p:cNvSpPr/>
          <p:nvPr/>
        </p:nvSpPr>
        <p:spPr>
          <a:xfrm>
            <a:off x="17230725" y="9704705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6" name="Text 22"/>
          <p:cNvSpPr/>
          <p:nvPr/>
        </p:nvSpPr>
        <p:spPr>
          <a:xfrm>
            <a:off x="8549005" y="3392488"/>
            <a:ext cx="859879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S1–S5 EVALUATION PROTOCOL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8549005" y="4645025"/>
            <a:ext cx="834834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8549005" y="4037806"/>
            <a:ext cx="6477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2100" dirty="0"/>
          </a:p>
        </p:txBody>
      </p:sp>
      <p:sp>
        <p:nvSpPr>
          <p:cNvPr id="29" name="Text 25"/>
          <p:cNvSpPr/>
          <p:nvPr/>
        </p:nvSpPr>
        <p:spPr>
          <a:xfrm>
            <a:off x="9291955" y="3914458"/>
            <a:ext cx="60872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balance</a:t>
            </a:r>
            <a:endParaRPr lang="en-US" sz="2250" dirty="0"/>
          </a:p>
        </p:txBody>
      </p:sp>
      <p:sp>
        <p:nvSpPr>
          <p:cNvPr id="30" name="Text 26"/>
          <p:cNvSpPr/>
          <p:nvPr/>
        </p:nvSpPr>
        <p:spPr>
          <a:xfrm>
            <a:off x="9291955" y="4252595"/>
            <a:ext cx="608724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Postural stability, joint limits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15982950" y="4117816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32" name="Shape 28"/>
          <p:cNvSpPr/>
          <p:nvPr/>
        </p:nvSpPr>
        <p:spPr>
          <a:xfrm>
            <a:off x="16173450" y="4117816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16363950" y="4117816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16554450" y="4117816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16744950" y="4117816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8549005" y="5554663"/>
            <a:ext cx="834834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8549005" y="4947444"/>
            <a:ext cx="6477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2100" dirty="0"/>
          </a:p>
        </p:txBody>
      </p:sp>
      <p:sp>
        <p:nvSpPr>
          <p:cNvPr id="38" name="Text 34"/>
          <p:cNvSpPr/>
          <p:nvPr/>
        </p:nvSpPr>
        <p:spPr>
          <a:xfrm>
            <a:off x="9291955" y="4824095"/>
            <a:ext cx="60872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Flat-ground walking</a:t>
            </a:r>
            <a:endParaRPr lang="en-US" sz="2250" dirty="0"/>
          </a:p>
        </p:txBody>
      </p:sp>
      <p:sp>
        <p:nvSpPr>
          <p:cNvPr id="39" name="Text 35"/>
          <p:cNvSpPr/>
          <p:nvPr/>
        </p:nvSpPr>
        <p:spPr>
          <a:xfrm>
            <a:off x="9291955" y="5162233"/>
            <a:ext cx="608724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Gait, CoM-height regulation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15982950" y="5027454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41" name="Shape 37"/>
          <p:cNvSpPr/>
          <p:nvPr/>
        </p:nvSpPr>
        <p:spPr>
          <a:xfrm>
            <a:off x="16173450" y="5027454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42" name="Shape 38"/>
          <p:cNvSpPr/>
          <p:nvPr/>
        </p:nvSpPr>
        <p:spPr>
          <a:xfrm>
            <a:off x="16363950" y="5027454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16554450" y="5027454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16744950" y="5027454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5" name="Shape 41"/>
          <p:cNvSpPr/>
          <p:nvPr/>
        </p:nvSpPr>
        <p:spPr>
          <a:xfrm>
            <a:off x="8549005" y="6464300"/>
            <a:ext cx="834834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6" name="Text 42"/>
          <p:cNvSpPr/>
          <p:nvPr/>
        </p:nvSpPr>
        <p:spPr>
          <a:xfrm>
            <a:off x="8549005" y="5857081"/>
            <a:ext cx="6477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2100" dirty="0"/>
          </a:p>
        </p:txBody>
      </p:sp>
      <p:sp>
        <p:nvSpPr>
          <p:cNvPr id="47" name="Text 43"/>
          <p:cNvSpPr/>
          <p:nvPr/>
        </p:nvSpPr>
        <p:spPr>
          <a:xfrm>
            <a:off x="9291955" y="5733733"/>
            <a:ext cx="60872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recovery</a:t>
            </a:r>
            <a:endParaRPr lang="en-US" sz="2250" dirty="0"/>
          </a:p>
        </p:txBody>
      </p:sp>
      <p:sp>
        <p:nvSpPr>
          <p:cNvPr id="48" name="Text 44"/>
          <p:cNvSpPr/>
          <p:nvPr/>
        </p:nvSpPr>
        <p:spPr>
          <a:xfrm>
            <a:off x="9291955" y="6071870"/>
            <a:ext cx="608724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rejection (10–50 N impulse)</a:t>
            </a:r>
            <a:endParaRPr lang="en-US" sz="1500" dirty="0"/>
          </a:p>
        </p:txBody>
      </p:sp>
      <p:sp>
        <p:nvSpPr>
          <p:cNvPr id="49" name="Shape 45"/>
          <p:cNvSpPr/>
          <p:nvPr/>
        </p:nvSpPr>
        <p:spPr>
          <a:xfrm>
            <a:off x="15982950" y="5937091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50" name="Shape 46"/>
          <p:cNvSpPr/>
          <p:nvPr/>
        </p:nvSpPr>
        <p:spPr>
          <a:xfrm>
            <a:off x="16173450" y="5937091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51" name="Shape 47"/>
          <p:cNvSpPr/>
          <p:nvPr/>
        </p:nvSpPr>
        <p:spPr>
          <a:xfrm>
            <a:off x="16363950" y="5937091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52" name="Shape 48"/>
          <p:cNvSpPr/>
          <p:nvPr/>
        </p:nvSpPr>
        <p:spPr>
          <a:xfrm>
            <a:off x="16554450" y="5937091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16744950" y="5937091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8549005" y="7373938"/>
            <a:ext cx="834834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5" name="Text 51"/>
          <p:cNvSpPr/>
          <p:nvPr/>
        </p:nvSpPr>
        <p:spPr>
          <a:xfrm>
            <a:off x="8549005" y="6766719"/>
            <a:ext cx="6477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2100" dirty="0"/>
          </a:p>
        </p:txBody>
      </p:sp>
      <p:sp>
        <p:nvSpPr>
          <p:cNvPr id="56" name="Text 52"/>
          <p:cNvSpPr/>
          <p:nvPr/>
        </p:nvSpPr>
        <p:spPr>
          <a:xfrm>
            <a:off x="9291955" y="6643370"/>
            <a:ext cx="60872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climbing</a:t>
            </a:r>
            <a:endParaRPr lang="en-US" sz="2250" dirty="0"/>
          </a:p>
        </p:txBody>
      </p:sp>
      <p:sp>
        <p:nvSpPr>
          <p:cNvPr id="57" name="Text 53"/>
          <p:cNvSpPr/>
          <p:nvPr/>
        </p:nvSpPr>
        <p:spPr>
          <a:xfrm>
            <a:off x="9291955" y="6981508"/>
            <a:ext cx="608724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Contact-rich locomotion</a:t>
            </a:r>
            <a:endParaRPr lang="en-US" sz="1500" dirty="0"/>
          </a:p>
        </p:txBody>
      </p:sp>
      <p:sp>
        <p:nvSpPr>
          <p:cNvPr id="58" name="Shape 54"/>
          <p:cNvSpPr/>
          <p:nvPr/>
        </p:nvSpPr>
        <p:spPr>
          <a:xfrm>
            <a:off x="15982950" y="6846729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59" name="Shape 55"/>
          <p:cNvSpPr/>
          <p:nvPr/>
        </p:nvSpPr>
        <p:spPr>
          <a:xfrm>
            <a:off x="16173450" y="6846729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60" name="Shape 56"/>
          <p:cNvSpPr/>
          <p:nvPr/>
        </p:nvSpPr>
        <p:spPr>
          <a:xfrm>
            <a:off x="16363950" y="6846729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61" name="Shape 57"/>
          <p:cNvSpPr/>
          <p:nvPr/>
        </p:nvSpPr>
        <p:spPr>
          <a:xfrm>
            <a:off x="16554450" y="6846729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62" name="Shape 58"/>
          <p:cNvSpPr/>
          <p:nvPr/>
        </p:nvSpPr>
        <p:spPr>
          <a:xfrm>
            <a:off x="16744950" y="6846729"/>
            <a:ext cx="152400" cy="15240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8549005" y="8283575"/>
            <a:ext cx="834834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4" name="Text 60"/>
          <p:cNvSpPr/>
          <p:nvPr/>
        </p:nvSpPr>
        <p:spPr>
          <a:xfrm>
            <a:off x="8549005" y="7676356"/>
            <a:ext cx="6477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2100" dirty="0"/>
          </a:p>
        </p:txBody>
      </p:sp>
      <p:sp>
        <p:nvSpPr>
          <p:cNvPr id="65" name="Text 61"/>
          <p:cNvSpPr/>
          <p:nvPr/>
        </p:nvSpPr>
        <p:spPr>
          <a:xfrm>
            <a:off x="9291955" y="7553008"/>
            <a:ext cx="60872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Loco-manipulation</a:t>
            </a:r>
            <a:endParaRPr lang="en-US" sz="2250" dirty="0"/>
          </a:p>
        </p:txBody>
      </p:sp>
      <p:sp>
        <p:nvSpPr>
          <p:cNvPr id="66" name="Text 62"/>
          <p:cNvSpPr/>
          <p:nvPr/>
        </p:nvSpPr>
        <p:spPr>
          <a:xfrm>
            <a:off x="9291955" y="7891145"/>
            <a:ext cx="608724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+ arm payload</a:t>
            </a:r>
            <a:endParaRPr lang="en-US" sz="1500" dirty="0"/>
          </a:p>
        </p:txBody>
      </p:sp>
      <p:sp>
        <p:nvSpPr>
          <p:cNvPr id="67" name="Shape 63"/>
          <p:cNvSpPr/>
          <p:nvPr/>
        </p:nvSpPr>
        <p:spPr>
          <a:xfrm>
            <a:off x="15982950" y="7756366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68" name="Shape 64"/>
          <p:cNvSpPr/>
          <p:nvPr/>
        </p:nvSpPr>
        <p:spPr>
          <a:xfrm>
            <a:off x="16173450" y="7756366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69" name="Shape 65"/>
          <p:cNvSpPr/>
          <p:nvPr/>
        </p:nvSpPr>
        <p:spPr>
          <a:xfrm>
            <a:off x="16363950" y="7756366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70" name="Shape 66"/>
          <p:cNvSpPr/>
          <p:nvPr/>
        </p:nvSpPr>
        <p:spPr>
          <a:xfrm>
            <a:off x="16554450" y="7756366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71" name="Shape 67"/>
          <p:cNvSpPr/>
          <p:nvPr/>
        </p:nvSpPr>
        <p:spPr>
          <a:xfrm>
            <a:off x="16744950" y="7756366"/>
            <a:ext cx="152400" cy="152400"/>
          </a:xfrm>
          <a:prstGeom prst="ellipse">
            <a:avLst/>
          </a:prstGeom>
          <a:solidFill>
            <a:srgbClr val="C04A2A"/>
          </a:solidFill>
          <a:ln/>
        </p:spPr>
      </p:sp>
      <p:sp>
        <p:nvSpPr>
          <p:cNvPr id="72" name="Shape 68"/>
          <p:cNvSpPr/>
          <p:nvPr/>
        </p:nvSpPr>
        <p:spPr>
          <a:xfrm>
            <a:off x="8549005" y="8500745"/>
            <a:ext cx="834834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3" name="Text 69"/>
          <p:cNvSpPr/>
          <p:nvPr/>
        </p:nvSpPr>
        <p:spPr>
          <a:xfrm>
            <a:off x="8549005" y="8679815"/>
            <a:ext cx="859879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METRICS</a:t>
            </a:r>
            <a:endParaRPr lang="en-US" sz="1200" dirty="0"/>
          </a:p>
        </p:txBody>
      </p:sp>
      <p:sp>
        <p:nvSpPr>
          <p:cNvPr id="74" name="Text 70"/>
          <p:cNvSpPr/>
          <p:nvPr/>
        </p:nvSpPr>
        <p:spPr>
          <a:xfrm>
            <a:off x="8549005" y="8931275"/>
            <a:ext cx="859879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deviation · ZMP margin · Joint torque RMS · Recovery time · Energy per step</a:t>
            </a:r>
            <a:endParaRPr lang="en-US" sz="1800" dirty="0"/>
          </a:p>
        </p:txBody>
      </p:sp>
      <p:sp>
        <p:nvSpPr>
          <p:cNvPr id="75" name="Text 71"/>
          <p:cNvSpPr/>
          <p:nvPr/>
        </p:nvSpPr>
        <p:spPr>
          <a:xfrm>
            <a:off x="1047750" y="10104755"/>
            <a:ext cx="166782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future team adding a new algorithm runs S1–S5 and immediately knows whether they improved or regressed. This baseline does not exist today.</a:t>
            </a:r>
            <a:endParaRPr lang="en-US" sz="2100" dirty="0"/>
          </a:p>
        </p:txBody>
      </p:sp>
      <p:sp>
        <p:nvSpPr>
          <p:cNvPr id="76" name="Shape 72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77" name="Text 73"/>
          <p:cNvSpPr/>
          <p:nvPr/>
        </p:nvSpPr>
        <p:spPr>
          <a:xfrm>
            <a:off x="14441964" y="152400"/>
            <a:ext cx="28822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· DECISIONS</a:t>
            </a:r>
            <a:endParaRPr lang="en-US" sz="1650" dirty="0"/>
          </a:p>
        </p:txBody>
      </p:sp>
      <p:sp>
        <p:nvSpPr>
          <p:cNvPr id="78" name="Shape 74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79" name="Text 75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80" name="Text 76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12/18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292376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OPEN PROBLEMS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495959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751705" y="952500"/>
            <a:ext cx="436202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GAPS · THREE ANSWERS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gaps we close.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2465864"/>
            <a:ext cx="16192500" cy="1666875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4125119"/>
            <a:ext cx="161925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2465864"/>
            <a:ext cx="161925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" y="2465864"/>
            <a:ext cx="76200" cy="1666875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3" name="Shape 11"/>
          <p:cNvSpPr/>
          <p:nvPr/>
        </p:nvSpPr>
        <p:spPr>
          <a:xfrm>
            <a:off x="17232630" y="2465864"/>
            <a:ext cx="9525" cy="166687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88030" y="2473484"/>
            <a:ext cx="9525" cy="163830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90650" y="2833529"/>
            <a:ext cx="170688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3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90650" y="3065939"/>
            <a:ext cx="1752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crisis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3729990" y="2702084"/>
            <a:ext cx="814292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29990" y="2938304"/>
            <a:ext cx="7613142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two WBC papers share scenario, metric or platform — cross-paper comparison is impossible. The field cannot tell whether controllers improve over time.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277600" y="2473484"/>
            <a:ext cx="6000750" cy="165163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11582400" y="2702084"/>
            <a:ext cx="55528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582400" y="2938304"/>
            <a:ext cx="555288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S1–S5 standardized protocol with fixed metrics. Future papers compare against our baseline.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4342289"/>
            <a:ext cx="16192500" cy="1674495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7750" y="6009164"/>
            <a:ext cx="161925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4342289"/>
            <a:ext cx="161925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47750" y="4342289"/>
            <a:ext cx="76200" cy="1674495"/>
          </a:xfrm>
          <a:prstGeom prst="rect">
            <a:avLst/>
          </a:prstGeom>
          <a:solidFill>
            <a:srgbClr val="B886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7232630" y="4342289"/>
            <a:ext cx="9525" cy="167449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59455" y="4349909"/>
            <a:ext cx="9525" cy="165925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390650" y="4720431"/>
            <a:ext cx="167830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88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90650" y="4952841"/>
            <a:ext cx="167830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fragmentation</a:t>
            </a:r>
            <a:endParaRPr lang="en-US" sz="2700" dirty="0"/>
          </a:p>
        </p:txBody>
      </p:sp>
      <p:sp>
        <p:nvSpPr>
          <p:cNvPr id="30" name="Shape 28"/>
          <p:cNvSpPr/>
          <p:nvPr/>
        </p:nvSpPr>
        <p:spPr>
          <a:xfrm>
            <a:off x="11227435" y="4349909"/>
            <a:ext cx="9525" cy="165925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16630" y="4578509"/>
            <a:ext cx="762818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16630" y="4814729"/>
            <a:ext cx="7628185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 (TSID, Crocoddyl) and learning-based (ASAP, Radosavovic) controllers are evaluated in isolation, with no common ground.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235055" y="4349909"/>
            <a:ext cx="5997575" cy="165925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4" name="Text 32"/>
          <p:cNvSpPr/>
          <p:nvPr/>
        </p:nvSpPr>
        <p:spPr>
          <a:xfrm>
            <a:off x="11539855" y="4578509"/>
            <a:ext cx="554961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539855" y="4814729"/>
            <a:ext cx="5549614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MPC + QP-WBC on TALOS in MuJoCo — the same setup RL researchers use. Direct comparison becomes possible.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47750" y="6226334"/>
            <a:ext cx="16192500" cy="207645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7750" y="8295164"/>
            <a:ext cx="161925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47750" y="6226334"/>
            <a:ext cx="1619250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47750" y="6226334"/>
            <a:ext cx="76200" cy="2076450"/>
          </a:xfrm>
          <a:prstGeom prst="rect">
            <a:avLst/>
          </a:prstGeom>
          <a:solidFill>
            <a:srgbClr val="6E3F8E"/>
          </a:solidFill>
          <a:ln/>
        </p:spPr>
      </p:sp>
      <p:sp>
        <p:nvSpPr>
          <p:cNvPr id="40" name="Shape 38"/>
          <p:cNvSpPr/>
          <p:nvPr/>
        </p:nvSpPr>
        <p:spPr>
          <a:xfrm>
            <a:off x="17232630" y="6226334"/>
            <a:ext cx="9525" cy="207645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249930" y="6233954"/>
            <a:ext cx="9525" cy="206121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390650" y="6462554"/>
            <a:ext cx="166878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6E3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90650" y="6694963"/>
            <a:ext cx="166878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Contact-rich scenarios underexplored</a:t>
            </a:r>
            <a:endParaRPr lang="en-US" sz="2700" dirty="0"/>
          </a:p>
        </p:txBody>
      </p:sp>
      <p:sp>
        <p:nvSpPr>
          <p:cNvPr id="44" name="Shape 42"/>
          <p:cNvSpPr/>
          <p:nvPr/>
        </p:nvSpPr>
        <p:spPr>
          <a:xfrm>
            <a:off x="11227435" y="6233954"/>
            <a:ext cx="9525" cy="206121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417570" y="6462554"/>
            <a:ext cx="804416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417570" y="6698774"/>
            <a:ext cx="8044161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90 % of WBC validation is flat-ground locomotion. Stair climbing and manipulation in simulation before hardware deployment are systematically avoided.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1235055" y="6233954"/>
            <a:ext cx="5997575" cy="206121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8" name="Text 46"/>
          <p:cNvSpPr/>
          <p:nvPr/>
        </p:nvSpPr>
        <p:spPr>
          <a:xfrm>
            <a:off x="11539855" y="6462554"/>
            <a:ext cx="554961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539855" y="6698774"/>
            <a:ext cx="5549614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and S5 explicitly force the controller into contact-rich regimes — with standardized metrics for them.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5096490" y="152400"/>
            <a:ext cx="2219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· GAPS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13/18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352761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BEYOND THIS THESIS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082222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7969" y="952500"/>
            <a:ext cx="555206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ROADMAP FOR FUTURE RESEARCHERS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leave open — by design.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047750" y="2275364"/>
            <a:ext cx="147161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trying to solve everything. We build the floor — here is what comes next.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3090704"/>
            <a:ext cx="5219700" cy="5436076"/>
          </a:xfrm>
          <a:prstGeom prst="rect">
            <a:avLst/>
          </a:prstGeom>
          <a:solidFill>
            <a:srgbClr val="0F1B2D"/>
          </a:solidFill>
          <a:ln w="7620">
            <a:solidFill>
              <a:srgbClr val="0F1B2D">
                <a:alpha val="1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5370" y="3098324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5370" y="3098324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8380" y="3098324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0305" y="3098324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5370" y="8509635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5370" y="8347710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8380" y="8509635"/>
            <a:ext cx="17145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50305" y="8347710"/>
            <a:ext cx="9525" cy="17145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9" name="Text 17"/>
          <p:cNvSpPr/>
          <p:nvPr/>
        </p:nvSpPr>
        <p:spPr>
          <a:xfrm>
            <a:off x="1360170" y="3365024"/>
            <a:ext cx="61420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3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7070" y="3365024"/>
            <a:ext cx="26416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60170" y="3692684"/>
            <a:ext cx="473270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framework + S1–S5 protocol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360170" y="4565174"/>
            <a:ext cx="459486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60170" y="4744244"/>
            <a:ext cx="247650" cy="28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45920" y="4706144"/>
            <a:ext cx="3659900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MPC + QP-WBC on TALOS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360170" y="5122386"/>
            <a:ext cx="247650" cy="28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45920" y="5084286"/>
            <a:ext cx="3359201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MuJoCo environment, reproducible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60170" y="5500529"/>
            <a:ext cx="247650" cy="28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45920" y="5462429"/>
            <a:ext cx="3455510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 documented, modular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6534150" y="3090704"/>
            <a:ext cx="5219700" cy="5436076"/>
          </a:xfrm>
          <a:prstGeom prst="rect">
            <a:avLst/>
          </a:prstGeom>
          <a:solidFill>
            <a:srgbClr val="E8E2D4"/>
          </a:solidFill>
          <a:ln w="7620">
            <a:solidFill>
              <a:srgbClr val="0F1B2D">
                <a:alpha val="13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6570" y="3365024"/>
            <a:ext cx="147780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1E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· YEAR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53470" y="3365024"/>
            <a:ext cx="26416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46570" y="3692684"/>
            <a:ext cx="4732706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6846570" y="4205129"/>
            <a:ext cx="459486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846570" y="4384199"/>
            <a:ext cx="247650" cy="565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32320" y="4346099"/>
            <a:ext cx="4438383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MuJoCo state estimator with IMU + encoder fusion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846570" y="5045234"/>
            <a:ext cx="247650" cy="565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32320" y="5007134"/>
            <a:ext cx="4438383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contact model to physical TALOS foot compliance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846570" y="5706269"/>
            <a:ext cx="247650" cy="565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132320" y="5668169"/>
            <a:ext cx="4438383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S1–S3 on real hardware, report sim-to-real gap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6846570" y="6367304"/>
            <a:ext cx="247650" cy="565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132320" y="6329204"/>
            <a:ext cx="4438383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Crocoddyl planner with learned residuals (test on S4–S5)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6846570" y="7028338"/>
            <a:ext cx="247650" cy="565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5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132320" y="6990238"/>
            <a:ext cx="4438383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Vision-based perception for unstructured terrain (S4 ext.)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2020550" y="3090704"/>
            <a:ext cx="5219700" cy="5436076"/>
          </a:xfrm>
          <a:prstGeom prst="rect">
            <a:avLst/>
          </a:prstGeom>
          <a:solidFill>
            <a:srgbClr val="E8E2D4">
              <a:alpha val="85000"/>
            </a:srgbClr>
          </a:solidFill>
          <a:ln w="7620">
            <a:solidFill>
              <a:srgbClr val="0F1B2D">
                <a:alpha val="11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332970" y="3365024"/>
            <a:ext cx="179419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· YEAR 4–5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6739870" y="3365024"/>
            <a:ext cx="26416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332970" y="3692684"/>
            <a:ext cx="473270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+ autonomy extensions</a:t>
            </a:r>
            <a:endParaRPr lang="en-US" sz="2700" dirty="0"/>
          </a:p>
        </p:txBody>
      </p:sp>
      <p:sp>
        <p:nvSpPr>
          <p:cNvPr id="48" name="Shape 46"/>
          <p:cNvSpPr/>
          <p:nvPr/>
        </p:nvSpPr>
        <p:spPr>
          <a:xfrm>
            <a:off x="12332970" y="4565174"/>
            <a:ext cx="4594860" cy="9525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2332970" y="4744244"/>
            <a:ext cx="247650" cy="28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2618720" y="4706144"/>
            <a:ext cx="3311128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— dynamic obstacle avoidance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2332970" y="5122386"/>
            <a:ext cx="247650" cy="28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2618720" y="5084286"/>
            <a:ext cx="4181178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— collaborative human + humanoid task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2332970" y="5500529"/>
            <a:ext cx="247650" cy="565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2618720" y="5462429"/>
            <a:ext cx="4438383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Dual-arm manipulation with external object models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2332970" y="6161563"/>
            <a:ext cx="247650" cy="28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2618720" y="6123463"/>
            <a:ext cx="3767001" cy="320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Battery-life energy metrics on hardware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2332970" y="6539706"/>
            <a:ext cx="247650" cy="28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2618720" y="6501606"/>
            <a:ext cx="3755555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autonomous task execution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047750" y="8793480"/>
            <a:ext cx="16192500" cy="731520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60" name="Shape 58"/>
          <p:cNvSpPr/>
          <p:nvPr/>
        </p:nvSpPr>
        <p:spPr>
          <a:xfrm>
            <a:off x="1047750" y="8793480"/>
            <a:ext cx="38100" cy="73152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61" name="Text 59"/>
          <p:cNvSpPr/>
          <p:nvPr/>
        </p:nvSpPr>
        <p:spPr>
          <a:xfrm>
            <a:off x="1390650" y="8983980"/>
            <a:ext cx="1603057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component is open-source, documented and modular. Future researchers</a:t>
            </a:r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they do not</a:t>
            </a:r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</a:t>
            </a:r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5096490" y="152400"/>
            <a:ext cx="2219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· GAPS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14/18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32866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WHAT HAS SHIPPED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848225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103971" y="952500"/>
            <a:ext cx="22064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13 → MAY 5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weeks · the theoretical foundation is complete.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2465864"/>
            <a:ext cx="13277850" cy="7059137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2465864"/>
            <a:ext cx="171450" cy="9525"/>
          </a:xfrm>
          <a:prstGeom prst="rect">
            <a:avLst/>
          </a:prstGeom>
          <a:solidFill>
            <a:srgbClr val="3A7A4A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2465864"/>
            <a:ext cx="9525" cy="171450"/>
          </a:xfrm>
          <a:prstGeom prst="rect">
            <a:avLst/>
          </a:prstGeom>
          <a:solidFill>
            <a:srgbClr val="3A7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154150" y="2465864"/>
            <a:ext cx="171450" cy="9525"/>
          </a:xfrm>
          <a:prstGeom prst="rect">
            <a:avLst/>
          </a:prstGeom>
          <a:solidFill>
            <a:srgbClr val="3A7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4316075" y="2465864"/>
            <a:ext cx="9525" cy="171450"/>
          </a:xfrm>
          <a:prstGeom prst="rect">
            <a:avLst/>
          </a:prstGeom>
          <a:solidFill>
            <a:srgbClr val="3A7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9515475"/>
            <a:ext cx="171450" cy="9525"/>
          </a:xfrm>
          <a:prstGeom prst="rect">
            <a:avLst/>
          </a:prstGeom>
          <a:solidFill>
            <a:srgbClr val="3A7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9353550"/>
            <a:ext cx="9525" cy="171450"/>
          </a:xfrm>
          <a:prstGeom prst="rect">
            <a:avLst/>
          </a:prstGeom>
          <a:solidFill>
            <a:srgbClr val="3A7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54150" y="9515475"/>
            <a:ext cx="171450" cy="9525"/>
          </a:xfrm>
          <a:prstGeom prst="rect">
            <a:avLst/>
          </a:prstGeom>
          <a:solidFill>
            <a:srgbClr val="3A7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4316075" y="9353550"/>
            <a:ext cx="9525" cy="171450"/>
          </a:xfrm>
          <a:prstGeom prst="rect">
            <a:avLst/>
          </a:prstGeom>
          <a:solidFill>
            <a:srgbClr val="3A7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352550" y="3006884"/>
            <a:ext cx="12668250" cy="15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9" name="Text 17"/>
          <p:cNvSpPr/>
          <p:nvPr/>
        </p:nvSpPr>
        <p:spPr>
          <a:xfrm>
            <a:off x="1638300" y="2732564"/>
            <a:ext cx="112627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725400" y="2732564"/>
            <a:ext cx="6477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449300" y="2732564"/>
            <a:ext cx="6477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52550" y="3523139"/>
            <a:ext cx="1266825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52550" y="3205956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3A7A4A"/>
          </a:solidFill>
          <a:ln/>
        </p:spPr>
      </p:sp>
      <p:sp>
        <p:nvSpPr>
          <p:cNvPr id="24" name="Text 22"/>
          <p:cNvSpPr/>
          <p:nvPr/>
        </p:nvSpPr>
        <p:spPr>
          <a:xfrm>
            <a:off x="1380014" y="3202146"/>
            <a:ext cx="154623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638300" y="3136424"/>
            <a:ext cx="11262741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· Ch. 2 State of the Art, Bibliography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725400" y="3185001"/>
            <a:ext cx="647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449300" y="3185001"/>
            <a:ext cx="647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52550" y="4031774"/>
            <a:ext cx="1266825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52550" y="3714591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3A7A4A"/>
          </a:solidFill>
          <a:ln/>
        </p:spPr>
      </p:sp>
      <p:sp>
        <p:nvSpPr>
          <p:cNvPr id="30" name="Text 28"/>
          <p:cNvSpPr/>
          <p:nvPr/>
        </p:nvSpPr>
        <p:spPr>
          <a:xfrm>
            <a:off x="1380014" y="3710781"/>
            <a:ext cx="154623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638300" y="3645059"/>
            <a:ext cx="11262741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Github repository created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2725400" y="3693636"/>
            <a:ext cx="647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449300" y="3693636"/>
            <a:ext cx="647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52550" y="4540409"/>
            <a:ext cx="1266825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52550" y="4223226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3A7A4A"/>
          </a:solidFill>
          <a:ln/>
        </p:spPr>
      </p:sp>
      <p:sp>
        <p:nvSpPr>
          <p:cNvPr id="36" name="Text 34"/>
          <p:cNvSpPr/>
          <p:nvPr/>
        </p:nvSpPr>
        <p:spPr>
          <a:xfrm>
            <a:off x="1380014" y="4219416"/>
            <a:ext cx="154623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638300" y="4153694"/>
            <a:ext cx="11262741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2725400" y="4202271"/>
            <a:ext cx="647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449300" y="4202271"/>
            <a:ext cx="647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30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352550" y="5049044"/>
            <a:ext cx="1266825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352550" y="4731861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3A7A4A"/>
          </a:solidFill>
          <a:ln/>
        </p:spPr>
      </p:sp>
      <p:sp>
        <p:nvSpPr>
          <p:cNvPr id="42" name="Text 40"/>
          <p:cNvSpPr/>
          <p:nvPr/>
        </p:nvSpPr>
        <p:spPr>
          <a:xfrm>
            <a:off x="1380014" y="4728051"/>
            <a:ext cx="154623" cy="179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638300" y="4662329"/>
            <a:ext cx="11262741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LaTeX+ thesis structure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2725400" y="4710906"/>
            <a:ext cx="647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3449300" y="4710906"/>
            <a:ext cx="647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30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5131415" y="152400"/>
            <a:ext cx="21850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· PLAN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15/18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194135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ROADMAP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522504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778250" y="952500"/>
            <a:ext cx="652741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WEEKS · 9 WORK PACKAGES · 4 MILESTONES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to 26 August.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2448719"/>
            <a:ext cx="171450" cy="5715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2393474"/>
            <a:ext cx="822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07908" y="2448719"/>
            <a:ext cx="171450" cy="5715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12" name="Text 10"/>
          <p:cNvSpPr/>
          <p:nvPr/>
        </p:nvSpPr>
        <p:spPr>
          <a:xfrm>
            <a:off x="2555557" y="2393474"/>
            <a:ext cx="111855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64610" y="2448719"/>
            <a:ext cx="171450" cy="57150"/>
          </a:xfrm>
          <a:prstGeom prst="rect">
            <a:avLst/>
          </a:prstGeom>
          <a:solidFill>
            <a:srgbClr val="6E3F8E"/>
          </a:solidFill>
          <a:ln/>
        </p:spPr>
      </p:sp>
      <p:sp>
        <p:nvSpPr>
          <p:cNvPr id="14" name="Text 12"/>
          <p:cNvSpPr/>
          <p:nvPr/>
        </p:nvSpPr>
        <p:spPr>
          <a:xfrm>
            <a:off x="4112260" y="2393474"/>
            <a:ext cx="13027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05463" y="2448719"/>
            <a:ext cx="171450" cy="57150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5853113" y="2393474"/>
            <a:ext cx="750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94182" y="2448719"/>
            <a:ext cx="171450" cy="57150"/>
          </a:xfrm>
          <a:prstGeom prst="rect">
            <a:avLst/>
          </a:prstGeom>
          <a:solidFill>
            <a:srgbClr val="6B7585"/>
          </a:solidFill>
          <a:ln/>
        </p:spPr>
      </p:sp>
      <p:sp>
        <p:nvSpPr>
          <p:cNvPr id="18" name="Text 16"/>
          <p:cNvSpPr/>
          <p:nvPr/>
        </p:nvSpPr>
        <p:spPr>
          <a:xfrm>
            <a:off x="7041832" y="2393474"/>
            <a:ext cx="62833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47750" y="2717324"/>
            <a:ext cx="16192500" cy="6807676"/>
          </a:xfrm>
          <a:prstGeom prst="rect">
            <a:avLst/>
          </a:prstGeom>
          <a:solidFill>
            <a:srgbClr val="E8E2D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7750" y="2717324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50" y="2717324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2" name="Shape 20"/>
          <p:cNvSpPr/>
          <p:nvPr/>
        </p:nvSpPr>
        <p:spPr>
          <a:xfrm>
            <a:off x="17068800" y="2717324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Shape 21"/>
          <p:cNvSpPr/>
          <p:nvPr/>
        </p:nvSpPr>
        <p:spPr>
          <a:xfrm>
            <a:off x="17230725" y="2717324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9515475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7750" y="9353550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6" name="Shape 24"/>
          <p:cNvSpPr/>
          <p:nvPr/>
        </p:nvSpPr>
        <p:spPr>
          <a:xfrm>
            <a:off x="17068800" y="9515475"/>
            <a:ext cx="171450" cy="952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Shape 25"/>
          <p:cNvSpPr/>
          <p:nvPr/>
        </p:nvSpPr>
        <p:spPr>
          <a:xfrm>
            <a:off x="17230725" y="9353550"/>
            <a:ext cx="9525" cy="17145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8" name="Text 26"/>
          <p:cNvSpPr/>
          <p:nvPr/>
        </p:nvSpPr>
        <p:spPr>
          <a:xfrm>
            <a:off x="2988945" y="2945924"/>
            <a:ext cx="61356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00591" y="2945924"/>
            <a:ext cx="59086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99466" y="2945924"/>
            <a:ext cx="56562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441680" y="2945924"/>
            <a:ext cx="62484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781145" y="2945924"/>
            <a:ext cx="46116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314450" y="3422174"/>
            <a:ext cx="17145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14450" y="3525044"/>
            <a:ext cx="1790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57550" y="3422174"/>
            <a:ext cx="137160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57550" y="3429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1480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97205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2930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86550" y="3429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4380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0105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25830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115550" y="3429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97280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83005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268730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3544550" y="3429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440180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525905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6116300" y="3429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6973550" y="3429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257550" y="3544094"/>
            <a:ext cx="1885950" cy="20955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54" name="Text 52"/>
          <p:cNvSpPr/>
          <p:nvPr/>
        </p:nvSpPr>
        <p:spPr>
          <a:xfrm>
            <a:off x="3352800" y="3544094"/>
            <a:ext cx="18669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 1 · Introduction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314450" y="3993674"/>
            <a:ext cx="17145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314450" y="4096544"/>
            <a:ext cx="1790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57550" y="3993674"/>
            <a:ext cx="137160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257550" y="4001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11480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97205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82930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686550" y="4001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54380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0105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5830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115550" y="4001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097280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183005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68730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3544550" y="4001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440180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525905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6116300" y="4001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6973550" y="4001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257550" y="4115594"/>
            <a:ext cx="2571750" cy="20955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76" name="Text 74"/>
          <p:cNvSpPr/>
          <p:nvPr/>
        </p:nvSpPr>
        <p:spPr>
          <a:xfrm>
            <a:off x="3352800" y="4115594"/>
            <a:ext cx="25536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 3 · Methodology (QP-WBC formulation)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314450" y="4565174"/>
            <a:ext cx="17145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314450" y="4668044"/>
            <a:ext cx="1790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3257550" y="4565174"/>
            <a:ext cx="137160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257550" y="4572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411480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97205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82930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686550" y="4572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754380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40105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925830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0115550" y="4572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097280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183005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1268730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3544550" y="4572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440180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1525905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6116300" y="4572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6973550" y="4572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3257550" y="4687094"/>
            <a:ext cx="11401425" cy="209550"/>
          </a:xfrm>
          <a:prstGeom prst="rect">
            <a:avLst/>
          </a:prstGeom>
          <a:solidFill>
            <a:srgbClr val="6B7585"/>
          </a:solidFill>
          <a:ln/>
        </p:spPr>
      </p:sp>
      <p:sp>
        <p:nvSpPr>
          <p:cNvPr id="98" name="Text 96"/>
          <p:cNvSpPr/>
          <p:nvPr/>
        </p:nvSpPr>
        <p:spPr>
          <a:xfrm>
            <a:off x="3257550" y="4687094"/>
            <a:ext cx="117434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management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1314450" y="5136674"/>
            <a:ext cx="17145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1314450" y="5239544"/>
            <a:ext cx="1790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3257550" y="5136674"/>
            <a:ext cx="137160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3257550" y="5144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11480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497205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582930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6686550" y="5144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754380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840105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925830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10115550" y="5144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097280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183005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268730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13544550" y="5144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1440180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1525905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16116300" y="5144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16973550" y="5144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5143500" y="5258594"/>
            <a:ext cx="3000375" cy="20955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120" name="Text 118"/>
          <p:cNvSpPr/>
          <p:nvPr/>
        </p:nvSpPr>
        <p:spPr>
          <a:xfrm>
            <a:off x="5238750" y="5258594"/>
            <a:ext cx="29951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setup · TALOS + MuJoCo + Pinocchio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1314450" y="5708174"/>
            <a:ext cx="17145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22" name="Text 120"/>
          <p:cNvSpPr/>
          <p:nvPr/>
        </p:nvSpPr>
        <p:spPr>
          <a:xfrm>
            <a:off x="1314450" y="5811044"/>
            <a:ext cx="1790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3257550" y="5708174"/>
            <a:ext cx="137160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3257550" y="5715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411480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497205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582930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6686550" y="5715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754380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840105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925830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0115550" y="5715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097280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1183005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1268730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13544550" y="5715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1440180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1525905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16116300" y="5715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16973550" y="5715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8143716" y="5830094"/>
            <a:ext cx="3000375" cy="209550"/>
          </a:xfrm>
          <a:prstGeom prst="rect">
            <a:avLst/>
          </a:prstGeom>
          <a:solidFill>
            <a:srgbClr val="6E3F8E"/>
          </a:solidFill>
          <a:ln/>
        </p:spPr>
      </p:sp>
      <p:sp>
        <p:nvSpPr>
          <p:cNvPr id="142" name="Text 140"/>
          <p:cNvSpPr/>
          <p:nvPr/>
        </p:nvSpPr>
        <p:spPr>
          <a:xfrm>
            <a:off x="8238966" y="5830094"/>
            <a:ext cx="29951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S1–S3 · Balance, Walking, Push Recovery</a:t>
            </a:r>
            <a:endParaRPr lang="en-US" sz="1050" dirty="0"/>
          </a:p>
        </p:txBody>
      </p:sp>
      <p:sp>
        <p:nvSpPr>
          <p:cNvPr id="143" name="Shape 141"/>
          <p:cNvSpPr/>
          <p:nvPr/>
        </p:nvSpPr>
        <p:spPr>
          <a:xfrm>
            <a:off x="1314450" y="6279674"/>
            <a:ext cx="17145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44" name="Text 142"/>
          <p:cNvSpPr/>
          <p:nvPr/>
        </p:nvSpPr>
        <p:spPr>
          <a:xfrm>
            <a:off x="1314450" y="6382544"/>
            <a:ext cx="1790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</a:t>
            </a:r>
            <a:endParaRPr lang="en-US" sz="1050" dirty="0"/>
          </a:p>
        </p:txBody>
      </p:sp>
      <p:sp>
        <p:nvSpPr>
          <p:cNvPr id="145" name="Shape 143"/>
          <p:cNvSpPr/>
          <p:nvPr/>
        </p:nvSpPr>
        <p:spPr>
          <a:xfrm>
            <a:off x="3257550" y="6279674"/>
            <a:ext cx="137160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3257550" y="6287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411480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497205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582930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6686550" y="6287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754380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840105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925830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10115550" y="6287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1097280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1183005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1268730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13544550" y="6287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1440180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1525905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16116300" y="6287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16973550" y="6287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10629900" y="6401594"/>
            <a:ext cx="2571750" cy="209550"/>
          </a:xfrm>
          <a:prstGeom prst="rect">
            <a:avLst/>
          </a:prstGeom>
          <a:solidFill>
            <a:srgbClr val="6E3F8E"/>
          </a:solidFill>
          <a:ln/>
        </p:spPr>
      </p:sp>
      <p:sp>
        <p:nvSpPr>
          <p:cNvPr id="164" name="Text 162"/>
          <p:cNvSpPr/>
          <p:nvPr/>
        </p:nvSpPr>
        <p:spPr>
          <a:xfrm>
            <a:off x="10725150" y="6401594"/>
            <a:ext cx="25536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S4–S5 · Stair Climbing, Manipulation</a:t>
            </a:r>
            <a:endParaRPr lang="en-US" sz="1050" dirty="0"/>
          </a:p>
        </p:txBody>
      </p:sp>
      <p:sp>
        <p:nvSpPr>
          <p:cNvPr id="165" name="Shape 163"/>
          <p:cNvSpPr/>
          <p:nvPr/>
        </p:nvSpPr>
        <p:spPr>
          <a:xfrm>
            <a:off x="1314450" y="6851174"/>
            <a:ext cx="17145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66" name="Text 164"/>
          <p:cNvSpPr/>
          <p:nvPr/>
        </p:nvSpPr>
        <p:spPr>
          <a:xfrm>
            <a:off x="1314450" y="6954044"/>
            <a:ext cx="1790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1050" dirty="0"/>
          </a:p>
        </p:txBody>
      </p:sp>
      <p:sp>
        <p:nvSpPr>
          <p:cNvPr id="167" name="Shape 165"/>
          <p:cNvSpPr/>
          <p:nvPr/>
        </p:nvSpPr>
        <p:spPr>
          <a:xfrm>
            <a:off x="3257550" y="6851174"/>
            <a:ext cx="137160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3257550" y="6858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411480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497205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582930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6686550" y="6858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754380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840105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925830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10115550" y="6858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1097280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1183005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1268730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13544550" y="6858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1440180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1525905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16116300" y="6858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16973550" y="6858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11144250" y="6973094"/>
            <a:ext cx="3429000" cy="20955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186" name="Text 184"/>
          <p:cNvSpPr/>
          <p:nvPr/>
        </p:nvSpPr>
        <p:spPr>
          <a:xfrm>
            <a:off x="11239500" y="6973094"/>
            <a:ext cx="34366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 4–5 · Simulation &amp; Results</a:t>
            </a:r>
            <a:endParaRPr lang="en-US" sz="1050" dirty="0"/>
          </a:p>
        </p:txBody>
      </p:sp>
      <p:sp>
        <p:nvSpPr>
          <p:cNvPr id="187" name="Shape 185"/>
          <p:cNvSpPr/>
          <p:nvPr/>
        </p:nvSpPr>
        <p:spPr>
          <a:xfrm>
            <a:off x="1314450" y="7422674"/>
            <a:ext cx="17145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88" name="Text 186"/>
          <p:cNvSpPr/>
          <p:nvPr/>
        </p:nvSpPr>
        <p:spPr>
          <a:xfrm>
            <a:off x="1314450" y="7525544"/>
            <a:ext cx="1790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1050" dirty="0"/>
          </a:p>
        </p:txBody>
      </p:sp>
      <p:sp>
        <p:nvSpPr>
          <p:cNvPr id="189" name="Shape 187"/>
          <p:cNvSpPr/>
          <p:nvPr/>
        </p:nvSpPr>
        <p:spPr>
          <a:xfrm>
            <a:off x="3257550" y="7422674"/>
            <a:ext cx="137160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3257550" y="7430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411480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497205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582930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6686550" y="7430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754380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840105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925830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10115550" y="7430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1097280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1183005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1268730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13544550" y="7430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1440180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1525905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16116300" y="74302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16973550" y="74302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13544550" y="7544594"/>
            <a:ext cx="2143125" cy="209550"/>
          </a:xfrm>
          <a:prstGeom prst="rect">
            <a:avLst/>
          </a:prstGeom>
          <a:solidFill>
            <a:srgbClr val="1E5B7A"/>
          </a:solidFill>
          <a:ln/>
        </p:spPr>
      </p:sp>
      <p:sp>
        <p:nvSpPr>
          <p:cNvPr id="208" name="Text 206"/>
          <p:cNvSpPr/>
          <p:nvPr/>
        </p:nvSpPr>
        <p:spPr>
          <a:xfrm>
            <a:off x="13639800" y="7544594"/>
            <a:ext cx="21240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 6–7 · Discussion &amp; Conclusion</a:t>
            </a:r>
            <a:endParaRPr lang="en-US" sz="1050" dirty="0"/>
          </a:p>
        </p:txBody>
      </p:sp>
      <p:sp>
        <p:nvSpPr>
          <p:cNvPr id="209" name="Shape 207"/>
          <p:cNvSpPr/>
          <p:nvPr/>
        </p:nvSpPr>
        <p:spPr>
          <a:xfrm>
            <a:off x="1314450" y="7994174"/>
            <a:ext cx="17145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210" name="Text 208"/>
          <p:cNvSpPr/>
          <p:nvPr/>
        </p:nvSpPr>
        <p:spPr>
          <a:xfrm>
            <a:off x="1314450" y="8097044"/>
            <a:ext cx="1790700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50" dirty="0"/>
          </a:p>
        </p:txBody>
      </p:sp>
      <p:sp>
        <p:nvSpPr>
          <p:cNvPr id="211" name="Shape 209"/>
          <p:cNvSpPr/>
          <p:nvPr/>
        </p:nvSpPr>
        <p:spPr>
          <a:xfrm>
            <a:off x="3257550" y="7994174"/>
            <a:ext cx="13716000" cy="9525"/>
          </a:xfrm>
          <a:prstGeom prst="rect">
            <a:avLst/>
          </a:prstGeom>
          <a:solidFill>
            <a:srgbClr val="0F1B2D">
              <a:alpha val="10000"/>
            </a:srgbClr>
          </a:solidFill>
          <a:ln/>
        </p:spPr>
      </p:sp>
      <p:sp>
        <p:nvSpPr>
          <p:cNvPr id="212" name="Shape 210"/>
          <p:cNvSpPr/>
          <p:nvPr/>
        </p:nvSpPr>
        <p:spPr>
          <a:xfrm>
            <a:off x="3257550" y="8001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13" name="Shape 211"/>
          <p:cNvSpPr/>
          <p:nvPr/>
        </p:nvSpPr>
        <p:spPr>
          <a:xfrm>
            <a:off x="411480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14" name="Shape 212"/>
          <p:cNvSpPr/>
          <p:nvPr/>
        </p:nvSpPr>
        <p:spPr>
          <a:xfrm>
            <a:off x="497205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15" name="Shape 213"/>
          <p:cNvSpPr/>
          <p:nvPr/>
        </p:nvSpPr>
        <p:spPr>
          <a:xfrm>
            <a:off x="582930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16" name="Shape 214"/>
          <p:cNvSpPr/>
          <p:nvPr/>
        </p:nvSpPr>
        <p:spPr>
          <a:xfrm>
            <a:off x="6686550" y="8001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17" name="Shape 215"/>
          <p:cNvSpPr/>
          <p:nvPr/>
        </p:nvSpPr>
        <p:spPr>
          <a:xfrm>
            <a:off x="754380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18" name="Shape 216"/>
          <p:cNvSpPr/>
          <p:nvPr/>
        </p:nvSpPr>
        <p:spPr>
          <a:xfrm>
            <a:off x="840105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19" name="Shape 217"/>
          <p:cNvSpPr/>
          <p:nvPr/>
        </p:nvSpPr>
        <p:spPr>
          <a:xfrm>
            <a:off x="925830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20" name="Shape 218"/>
          <p:cNvSpPr/>
          <p:nvPr/>
        </p:nvSpPr>
        <p:spPr>
          <a:xfrm>
            <a:off x="10115550" y="8001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21" name="Shape 219"/>
          <p:cNvSpPr/>
          <p:nvPr/>
        </p:nvSpPr>
        <p:spPr>
          <a:xfrm>
            <a:off x="1097280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22" name="Shape 220"/>
          <p:cNvSpPr/>
          <p:nvPr/>
        </p:nvSpPr>
        <p:spPr>
          <a:xfrm>
            <a:off x="1183005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23" name="Shape 221"/>
          <p:cNvSpPr/>
          <p:nvPr/>
        </p:nvSpPr>
        <p:spPr>
          <a:xfrm>
            <a:off x="1268730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24" name="Shape 222"/>
          <p:cNvSpPr/>
          <p:nvPr/>
        </p:nvSpPr>
        <p:spPr>
          <a:xfrm>
            <a:off x="13544550" y="8001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25" name="Shape 223"/>
          <p:cNvSpPr/>
          <p:nvPr/>
        </p:nvSpPr>
        <p:spPr>
          <a:xfrm>
            <a:off x="1440180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26" name="Shape 224"/>
          <p:cNvSpPr/>
          <p:nvPr/>
        </p:nvSpPr>
        <p:spPr>
          <a:xfrm>
            <a:off x="1525905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27" name="Shape 225"/>
          <p:cNvSpPr/>
          <p:nvPr/>
        </p:nvSpPr>
        <p:spPr>
          <a:xfrm>
            <a:off x="16116300" y="8001794"/>
            <a:ext cx="9525" cy="335280"/>
          </a:xfrm>
          <a:prstGeom prst="rect">
            <a:avLst/>
          </a:prstGeom>
          <a:solidFill>
            <a:srgbClr val="0F1B2D">
              <a:alpha val="6000"/>
            </a:srgbClr>
          </a:solidFill>
          <a:ln/>
        </p:spPr>
      </p:sp>
      <p:sp>
        <p:nvSpPr>
          <p:cNvPr id="228" name="Shape 226"/>
          <p:cNvSpPr/>
          <p:nvPr/>
        </p:nvSpPr>
        <p:spPr>
          <a:xfrm>
            <a:off x="16973550" y="8001794"/>
            <a:ext cx="9525" cy="335280"/>
          </a:xfrm>
          <a:prstGeom prst="rect">
            <a:avLst/>
          </a:prstGeom>
          <a:solidFill>
            <a:srgbClr val="0F1B2D">
              <a:alpha val="13000"/>
            </a:srgbClr>
          </a:solidFill>
          <a:ln/>
        </p:spPr>
      </p:sp>
      <p:sp>
        <p:nvSpPr>
          <p:cNvPr id="229" name="Shape 227"/>
          <p:cNvSpPr/>
          <p:nvPr/>
        </p:nvSpPr>
        <p:spPr>
          <a:xfrm>
            <a:off x="15687675" y="8116094"/>
            <a:ext cx="1285875" cy="209550"/>
          </a:xfrm>
          <a:prstGeom prst="rect">
            <a:avLst/>
          </a:prstGeom>
          <a:solidFill>
            <a:srgbClr val="A33A28"/>
          </a:solidFill>
          <a:ln/>
        </p:spPr>
      </p:sp>
      <p:sp>
        <p:nvSpPr>
          <p:cNvPr id="230" name="Text 228"/>
          <p:cNvSpPr/>
          <p:nvPr/>
        </p:nvSpPr>
        <p:spPr>
          <a:xfrm>
            <a:off x="15782925" y="8116094"/>
            <a:ext cx="12668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 · proofreading · buffer</a:t>
            </a:r>
            <a:endParaRPr lang="en-US" sz="1050" dirty="0"/>
          </a:p>
        </p:txBody>
      </p:sp>
      <p:sp>
        <p:nvSpPr>
          <p:cNvPr id="231" name="Text 229"/>
          <p:cNvSpPr/>
          <p:nvPr/>
        </p:nvSpPr>
        <p:spPr>
          <a:xfrm>
            <a:off x="1314450" y="8489474"/>
            <a:ext cx="1790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050" dirty="0"/>
          </a:p>
        </p:txBody>
      </p:sp>
      <p:sp>
        <p:nvSpPr>
          <p:cNvPr id="232" name="Shape 230"/>
          <p:cNvSpPr/>
          <p:nvPr/>
        </p:nvSpPr>
        <p:spPr>
          <a:xfrm>
            <a:off x="8067516" y="8489474"/>
            <a:ext cx="152400" cy="1143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33" name="Text 231"/>
          <p:cNvSpPr/>
          <p:nvPr/>
        </p:nvSpPr>
        <p:spPr>
          <a:xfrm>
            <a:off x="7464901" y="8660924"/>
            <a:ext cx="135763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8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15 · SIM ENV</a:t>
            </a:r>
            <a:endParaRPr lang="en-US" sz="1050" dirty="0"/>
          </a:p>
        </p:txBody>
      </p:sp>
      <p:sp>
        <p:nvSpPr>
          <p:cNvPr id="234" name="Shape 232"/>
          <p:cNvSpPr/>
          <p:nvPr/>
        </p:nvSpPr>
        <p:spPr>
          <a:xfrm>
            <a:off x="11068050" y="8489474"/>
            <a:ext cx="152400" cy="1143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35" name="Text 233"/>
          <p:cNvSpPr/>
          <p:nvPr/>
        </p:nvSpPr>
        <p:spPr>
          <a:xfrm>
            <a:off x="10323513" y="8660924"/>
            <a:ext cx="164163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8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10 · S1–S3 DONE</a:t>
            </a:r>
            <a:endParaRPr lang="en-US" sz="1050" dirty="0"/>
          </a:p>
        </p:txBody>
      </p:sp>
      <p:sp>
        <p:nvSpPr>
          <p:cNvPr id="236" name="Shape 234"/>
          <p:cNvSpPr/>
          <p:nvPr/>
        </p:nvSpPr>
        <p:spPr>
          <a:xfrm>
            <a:off x="13125450" y="8489474"/>
            <a:ext cx="152400" cy="1143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37" name="Text 235"/>
          <p:cNvSpPr/>
          <p:nvPr/>
        </p:nvSpPr>
        <p:spPr>
          <a:xfrm>
            <a:off x="12246451" y="8660924"/>
            <a:ext cx="191055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8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25 · ALL SCENARIOS</a:t>
            </a:r>
            <a:endParaRPr lang="en-US" sz="1050" dirty="0"/>
          </a:p>
        </p:txBody>
      </p:sp>
      <p:sp>
        <p:nvSpPr>
          <p:cNvPr id="238" name="Shape 236"/>
          <p:cNvSpPr/>
          <p:nvPr/>
        </p:nvSpPr>
        <p:spPr>
          <a:xfrm>
            <a:off x="15611475" y="8489474"/>
            <a:ext cx="152400" cy="1143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39" name="Text 237"/>
          <p:cNvSpPr/>
          <p:nvPr/>
        </p:nvSpPr>
        <p:spPr>
          <a:xfrm>
            <a:off x="14848523" y="8660924"/>
            <a:ext cx="167846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8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14 · FULL DRAFT</a:t>
            </a:r>
            <a:endParaRPr lang="en-US" sz="1050" dirty="0"/>
          </a:p>
        </p:txBody>
      </p:sp>
      <p:sp>
        <p:nvSpPr>
          <p:cNvPr id="240" name="Shape 238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241" name="Text 239"/>
          <p:cNvSpPr/>
          <p:nvPr/>
        </p:nvSpPr>
        <p:spPr>
          <a:xfrm>
            <a:off x="15131415" y="152400"/>
            <a:ext cx="218503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· PLAN</a:t>
            </a:r>
            <a:endParaRPr lang="en-US" sz="1650" dirty="0"/>
          </a:p>
        </p:txBody>
      </p:sp>
      <p:sp>
        <p:nvSpPr>
          <p:cNvPr id="242" name="Shape 240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243" name="Text 241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244" name="Text 242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16/18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184070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CLOSING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421856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677603" y="952500"/>
            <a:ext cx="363390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YOU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asks before implementation begins.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047750" y="2275364"/>
            <a:ext cx="1471612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2C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begins 20 May. Locking these three points now keeps the next 16 weeks on track.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3205004"/>
            <a:ext cx="5194300" cy="6319996"/>
          </a:xfrm>
          <a:prstGeom prst="rect">
            <a:avLst/>
          </a:prstGeom>
          <a:solidFill>
            <a:srgbClr val="0F1B2D"/>
          </a:solidFill>
          <a:ln w="15240">
            <a:solidFill>
              <a:srgbClr val="C04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990" y="3220244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2990" y="3220244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6310" y="3220244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285" y="3220244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2990" y="9500235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2990" y="9319260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6310" y="9500235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285" y="9319260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9" name="Text 17"/>
          <p:cNvSpPr/>
          <p:nvPr/>
        </p:nvSpPr>
        <p:spPr>
          <a:xfrm>
            <a:off x="1405890" y="3563144"/>
            <a:ext cx="1093152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5010150" y="4153694"/>
            <a:ext cx="94996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05890" y="4557554"/>
            <a:ext cx="4612361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Research-question validation</a:t>
            </a:r>
            <a:endParaRPr lang="en-US" sz="2850" dirty="0"/>
          </a:p>
        </p:txBody>
      </p:sp>
      <p:sp>
        <p:nvSpPr>
          <p:cNvPr id="22" name="Shape 20"/>
          <p:cNvSpPr/>
          <p:nvPr/>
        </p:nvSpPr>
        <p:spPr>
          <a:xfrm>
            <a:off x="1405890" y="5489099"/>
            <a:ext cx="447802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05890" y="5668169"/>
            <a:ext cx="4612361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refined RQ — "reproducible scenario-based evaluation protocol as a reusable foundation" — the right angle for the program's Year-1 output?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46850" y="3205004"/>
            <a:ext cx="5194300" cy="6319996"/>
          </a:xfrm>
          <a:prstGeom prst="rect">
            <a:avLst/>
          </a:prstGeom>
          <a:solidFill>
            <a:srgbClr val="0F1B2D"/>
          </a:solidFill>
          <a:ln w="15240">
            <a:solidFill>
              <a:srgbClr val="C04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2090" y="3220244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62090" y="3220244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35410" y="3220244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16385" y="3220244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62090" y="9500235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0" name="Shape 28"/>
          <p:cNvSpPr/>
          <p:nvPr/>
        </p:nvSpPr>
        <p:spPr>
          <a:xfrm>
            <a:off x="6562090" y="9319260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35410" y="9500235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2" name="Shape 30"/>
          <p:cNvSpPr/>
          <p:nvPr/>
        </p:nvSpPr>
        <p:spPr>
          <a:xfrm>
            <a:off x="11716385" y="9319260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3" name="Text 31"/>
          <p:cNvSpPr/>
          <p:nvPr/>
        </p:nvSpPr>
        <p:spPr>
          <a:xfrm>
            <a:off x="6904990" y="3563144"/>
            <a:ext cx="1093152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10727373" y="4153694"/>
            <a:ext cx="73183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4990" y="4557554"/>
            <a:ext cx="4612361" cy="41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S1–S5 scenario scope</a:t>
            </a:r>
            <a:endParaRPr lang="en-US" sz="2850" dirty="0"/>
          </a:p>
        </p:txBody>
      </p:sp>
      <p:sp>
        <p:nvSpPr>
          <p:cNvPr id="36" name="Shape 34"/>
          <p:cNvSpPr/>
          <p:nvPr/>
        </p:nvSpPr>
        <p:spPr>
          <a:xfrm>
            <a:off x="6904990" y="5109051"/>
            <a:ext cx="447802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904990" y="5288121"/>
            <a:ext cx="4612361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five scenarios realistic for a single master's thesis? Should S5 (loco-manipulation) be de-risked to an optional extension?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045950" y="3205004"/>
            <a:ext cx="5194300" cy="6319996"/>
          </a:xfrm>
          <a:prstGeom prst="rect">
            <a:avLst/>
          </a:prstGeom>
          <a:solidFill>
            <a:srgbClr val="0F1B2D"/>
          </a:solidFill>
          <a:ln w="15240">
            <a:solidFill>
              <a:srgbClr val="C04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061189" y="3220244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0" name="Shape 38"/>
          <p:cNvSpPr/>
          <p:nvPr/>
        </p:nvSpPr>
        <p:spPr>
          <a:xfrm>
            <a:off x="12061189" y="3220244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1" name="Shape 39"/>
          <p:cNvSpPr/>
          <p:nvPr/>
        </p:nvSpPr>
        <p:spPr>
          <a:xfrm>
            <a:off x="17034510" y="3220244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2" name="Shape 40"/>
          <p:cNvSpPr/>
          <p:nvPr/>
        </p:nvSpPr>
        <p:spPr>
          <a:xfrm>
            <a:off x="17215485" y="3220244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3" name="Shape 41"/>
          <p:cNvSpPr/>
          <p:nvPr/>
        </p:nvSpPr>
        <p:spPr>
          <a:xfrm>
            <a:off x="12061189" y="9500235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4" name="Shape 42"/>
          <p:cNvSpPr/>
          <p:nvPr/>
        </p:nvSpPr>
        <p:spPr>
          <a:xfrm>
            <a:off x="12061189" y="9319260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5" name="Shape 43"/>
          <p:cNvSpPr/>
          <p:nvPr/>
        </p:nvSpPr>
        <p:spPr>
          <a:xfrm>
            <a:off x="17034510" y="9500235"/>
            <a:ext cx="1905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6" name="Shape 44"/>
          <p:cNvSpPr/>
          <p:nvPr/>
        </p:nvSpPr>
        <p:spPr>
          <a:xfrm>
            <a:off x="17215485" y="9319260"/>
            <a:ext cx="9525" cy="190500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47" name="Text 45"/>
          <p:cNvSpPr/>
          <p:nvPr/>
        </p:nvSpPr>
        <p:spPr>
          <a:xfrm>
            <a:off x="12404089" y="3563144"/>
            <a:ext cx="1093153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8" name="Text 46"/>
          <p:cNvSpPr/>
          <p:nvPr/>
        </p:nvSpPr>
        <p:spPr>
          <a:xfrm>
            <a:off x="16109156" y="4153694"/>
            <a:ext cx="84915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404089" y="4557554"/>
            <a:ext cx="4612361" cy="41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expectations</a:t>
            </a:r>
            <a:endParaRPr lang="en-US" sz="2850" dirty="0"/>
          </a:p>
        </p:txBody>
      </p:sp>
      <p:sp>
        <p:nvSpPr>
          <p:cNvPr id="50" name="Shape 48"/>
          <p:cNvSpPr/>
          <p:nvPr/>
        </p:nvSpPr>
        <p:spPr>
          <a:xfrm>
            <a:off x="12404089" y="5109051"/>
            <a:ext cx="447802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2404089" y="5288121"/>
            <a:ext cx="4612361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expected deliverables — framework + protocol + documented code + thesis — aligned with what the program needs for Year-3 hardware integration?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6179324" y="152400"/>
            <a:ext cx="113712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0F1B2D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0F1B2D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17/18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EEE5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1069658"/>
            <a:ext cx="304800" cy="9525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952500"/>
            <a:ext cx="155225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RECAP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133408" y="952500"/>
            <a:ext cx="17954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C04A2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389154" y="952500"/>
            <a:ext cx="45556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 TO LEAVE ON SCREEN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24940"/>
            <a:ext cx="16678275" cy="659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5"/>
              </a:lnSpc>
              <a:buNone/>
            </a:pPr>
            <a:r>
              <a:rPr lang="en-US" sz="4800" spc="-72" kern="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takeaways.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047750" y="2389664"/>
            <a:ext cx="16192500" cy="122586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2389664"/>
            <a:ext cx="22860" cy="1225867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762567"/>
            <a:ext cx="83820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270760" y="2914967"/>
            <a:ext cx="1790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FFFFFF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13860" y="2730182"/>
            <a:ext cx="5402453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thesis in a 5-year humanoid robotics program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87560" y="2874010"/>
            <a:ext cx="75634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Generality and reproducibility are the primary constraints — not optional refinements.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47750" y="3729831"/>
            <a:ext cx="16192500" cy="12258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7750" y="3729831"/>
            <a:ext cx="22860" cy="1225868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102735"/>
            <a:ext cx="83820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2270760" y="4255135"/>
            <a:ext cx="1790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FFFFFF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13860" y="4070350"/>
            <a:ext cx="5402453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simulation-first WBC framework for TALOS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687560" y="4214178"/>
            <a:ext cx="75634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foundation that future hardware teams can transplant without re-deriving the stack.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47750" y="5069999"/>
            <a:ext cx="16192500" cy="122586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5069999"/>
            <a:ext cx="22860" cy="1225867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5442903"/>
            <a:ext cx="83820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2270760" y="5595303"/>
            <a:ext cx="1790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FFFFFF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13860" y="5410517"/>
            <a:ext cx="5402453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MPC (Crocoddyl) + QP-WBC (TSID) on MuJoCo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687560" y="5425757"/>
            <a:ext cx="756343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 modular, theoretically grounded — and validated on Atlas, HRP-4, ANYmal.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47750" y="6410166"/>
            <a:ext cx="16192500" cy="122586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47750" y="6410166"/>
            <a:ext cx="22860" cy="1225867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6783070"/>
            <a:ext cx="83820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2270760" y="6935470"/>
            <a:ext cx="1790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FFFFFF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13860" y="6886892"/>
            <a:ext cx="5402453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S1–S5 standardized evaluation protocol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687560" y="6765925"/>
            <a:ext cx="756343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baseline in WBC research — fixed scenarios, fixed metrics, comparable results.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47750" y="7750334"/>
            <a:ext cx="16192500" cy="122586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47750" y="7750334"/>
            <a:ext cx="22860" cy="1225867"/>
          </a:xfrm>
          <a:prstGeom prst="rect">
            <a:avLst/>
          </a:prstGeom>
          <a:solidFill>
            <a:srgbClr val="C04A2A"/>
          </a:solidFill>
          <a:ln/>
        </p:spPr>
      </p:sp>
      <p:sp>
        <p:nvSpPr>
          <p:cNvPr id="35" name="Text 33"/>
          <p:cNvSpPr/>
          <p:nvPr/>
        </p:nvSpPr>
        <p:spPr>
          <a:xfrm>
            <a:off x="1280160" y="8123237"/>
            <a:ext cx="83820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dirty="0">
                <a:solidFill>
                  <a:srgbClr val="C0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2270760" y="8275637"/>
            <a:ext cx="17907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FFFFFF">
                    <a:alpha val="5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13860" y="8090853"/>
            <a:ext cx="5402453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F2E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complete · implementation 20 May · submission 26 Aug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687560" y="8234680"/>
            <a:ext cx="75634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 planned tasks delivered on schedule. 16 weeks remain. 4 milestones tracked.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47750" y="9109710"/>
            <a:ext cx="161925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9250680"/>
            <a:ext cx="9345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4966474" y="9330690"/>
            <a:ext cx="234997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· 26 AUG 2026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47750" y="419100"/>
            <a:ext cx="16192500" cy="9525"/>
          </a:xfrm>
          <a:prstGeom prst="rect">
            <a:avLst/>
          </a:prstGeom>
          <a:solidFill>
            <a:srgbClr val="F2EEE5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6055340" y="152400"/>
            <a:ext cx="126111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F2EEE5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047750" y="9858375"/>
            <a:ext cx="16192500" cy="9525"/>
          </a:xfrm>
          <a:prstGeom prst="rect">
            <a:avLst/>
          </a:prstGeom>
          <a:solidFill>
            <a:srgbClr val="F2EEE5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47750" y="9890760"/>
            <a:ext cx="18389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F2EEE5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MAY · 2026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6481584" y="9890760"/>
            <a:ext cx="83486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F2EEE5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18/18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2026-04-30T17:56:50Z</dcterms:created>
  <dcterms:modified xsi:type="dcterms:W3CDTF">2026-04-30T17:56:50Z</dcterms:modified>
</cp:coreProperties>
</file>