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01168" cy="50703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Humanoid Robotics Programme · Year 1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Simulation of 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 Framework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Humanoid Robot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2761488"/>
            <a:ext cx="34747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852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Meeting · May 5,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273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4206240"/>
            <a:ext cx="8942832" cy="859536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buNone/>
            </a:pPr>
            <a:r>
              <a:rPr lang="en-US" sz="11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+ QP-WBC  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</a:t>
            </a:r>
            <a:pPr indent="0" marL="0">
              <a:buNone/>
            </a:pPr>
            <a:r>
              <a:rPr lang="en-US" sz="11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(32 DoF)  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</a:t>
            </a:r>
            <a:pPr indent="0" marL="0">
              <a:buNone/>
            </a:pPr>
            <a:r>
              <a:rPr lang="en-US" sz="11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5-Year Humanoid Robotics Programme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university has launched a structured 5-year initiative to develop a fully autonomous humanoid robot. This thesis is Year 1 — the simulation foundation. There is no hardware yet by design.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1572768" cy="2194560"/>
          </a:xfrm>
          <a:prstGeom prst="rect">
            <a:avLst/>
          </a:prstGeom>
          <a:solidFill>
            <a:srgbClr val="0077B6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371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framework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 protocol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207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38528" y="1298448"/>
            <a:ext cx="1572768" cy="219456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38528" y="1371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38528" y="17556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38528" y="248716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adaptation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02736" y="1298448"/>
            <a:ext cx="1572768" cy="219456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02736" y="1371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02736" y="17556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02736" y="248716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66944" y="1298448"/>
            <a:ext cx="1572768" cy="219456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66944" y="1371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6944" y="17556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66944" y="248716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31152" y="1298448"/>
            <a:ext cx="1572768" cy="2194560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31152" y="1371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17556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31152" y="248716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47088" y="2395728"/>
            <a:ext cx="1828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11296" y="2395728"/>
            <a:ext cx="1828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5504" y="2395728"/>
            <a:ext cx="1828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9712" y="2395728"/>
            <a:ext cx="1828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builds on the previous. This thesis delivers the reusable simulation infrastructure that all future years depend 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Thesis Fits in the Programme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4187952"/>
            <a:ext cx="8229600" cy="58521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2245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— Autonomous Deployment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4489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tasks, safety guarantees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7498080" cy="5852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02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 — System Integration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38679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pipelines, task planning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88720" y="2944368"/>
            <a:ext cx="6766560" cy="5852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9809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— Hardware Integration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25880" y="32461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transfer, actuator control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54480" y="2322576"/>
            <a:ext cx="6035040" cy="58521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359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— Advanced Algorithms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2624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policies, terrain adaptation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1700784"/>
            <a:ext cx="5303520" cy="5852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THIS THESIS: Simulation Foundation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57400" y="20025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architecture + reproducible evaluation in MuJoCo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69480" y="1152144"/>
            <a:ext cx="0" cy="3035808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315200" y="1170432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5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9480" y="3273552"/>
            <a:ext cx="41148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3467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694944"/>
            <a:ext cx="6766560" cy="694944"/>
          </a:xfrm>
          <a:prstGeom prst="rect">
            <a:avLst/>
          </a:prstGeom>
          <a:solidFill>
            <a:srgbClr val="DBEAFE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74980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 Year 1 must deliver a general, well-documented, reproducible base — not just working code. Future teams must be able to extend it without starting over.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Broad Topic to Precise Research Question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7863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thesis subject (as assigned):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"Development and simulation of a whole-body control model for a humanoid robot"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64208"/>
            <a:ext cx="0" cy="347472"/>
          </a:xfrm>
          <a:prstGeom prst="line">
            <a:avLst/>
          </a:prstGeom>
          <a:noFill/>
          <a:ln w="3175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709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by answering: What robot? What simulator? What architecture? How to evaluate?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8412480" cy="1417320"/>
          </a:xfrm>
          <a:prstGeom prst="rect">
            <a:avLst/>
          </a:prstGeom>
          <a:solidFill>
            <a:srgbClr val="0077B6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03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Research Question: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two-layer MPC + QP-WBC framework, deployed on the TALOS humanoid in MuJoCo, be rigorously evaluated through a reproducible, scenario-based protocol — and serve as a reusable simulation foundation for future hardware integration?"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26060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84448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630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+ MuJoCo + MPC+WBC architecture — not any humanoid, not any WBC.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0" y="3584448"/>
            <a:ext cx="26060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0" y="3584448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3630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success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36976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evaluation protocol — not just "it moves."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52160" y="3584448"/>
            <a:ext cx="26060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3584448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3630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contribution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0176" y="39136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foundation — not a one-off experiment.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Simulation-First Is the Right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3977640" cy="4041648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13232"/>
            <a:ext cx="3977640" cy="402336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498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Cost: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costs ~300 000 EUR. Crashes are expensive.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92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Availability: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139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hardware cannot be monopolized for months of algorithm tuning.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Safety: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whole-body controller on a real robot can damage it — or injure people.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Reproducibility: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experiments are hard to replicate exactly across research groups.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Iteration speed: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reset after a fall takes minutes; simulation reset takes milliseconds.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713232"/>
            <a:ext cx="4343400" cy="4041648"/>
          </a:xfrm>
          <a:prstGeom prst="rect">
            <a:avLst/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713232"/>
            <a:ext cx="4343400" cy="40233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Advantages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MuJoCo accuracy: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steps, best-in-class contact solver, physically consistent dynamics.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1892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Reproducibility: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21396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environment state can be serialized and shared — any researcher can re-run.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2551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Safety: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27980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falls, crashes, edge cases — zero hardware risk.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3209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Speed: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7720" y="3456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1000 controller variants overnight. Impossible with real hardware.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17720" y="3867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Reusability: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URDF + MuJoCo scene serve as a permanent, extendable testbed.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of WBC Research: Three Paradigms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 has evolved through three distinct paradigms since Khatib (1987). Understanding each is essential to justify our architectural choices.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697480" cy="3401568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25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Task-Priority / QP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 — present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Khatib 1987 · Escande 2014 · TSID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02996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ranked by strict priority hierarchy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252374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 solves for joint torques at each time step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30175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whole-body loco-manipulation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35112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interpretable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40050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greedy, no look-ahead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1188720"/>
            <a:ext cx="2697480" cy="3401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8872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225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MPC-Based 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14630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— present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Koolen 2016 · Sleiman 2021 · OCS2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9272" y="202996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trajectory over a receding horizon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9272" y="252374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handles contact switching &amp; planning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9272" y="30175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dynamic gaits and rough terrain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9272" y="35112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(10–100 Hz)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9272" y="40050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real-time feasibility is challenging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1188720"/>
            <a:ext cx="2697480" cy="34015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18872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225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Control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80760" y="14630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present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17190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Radosavovic 2024 · ASAP 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53912" y="202996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policies from simulation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252374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Remarkable agility and generalization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53912" y="30175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contact modeling needed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53912" y="3511296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massive compute + 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53912" y="40050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hard to analyze or guarantee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636008"/>
            <a:ext cx="8503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54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Combine MPC (look-ahead planning) with QP-WBC (fast torque resolution) — capturing the strengths of paradigms 1 and 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Has Agreed 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paradigms, the research community has reached convergent conclusions on four key points: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02336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1719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20700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Dynamics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554480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Reduced-order centroidal model (CoM + angular momentum) is the right abstraction for planning. Full 32-DoF dynamics at planning frequency is computationally infeasible.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48716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Orin 2013 · Dai 2014 · Koolen 2016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44568" y="1115568"/>
            <a:ext cx="402336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115568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0700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554480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planning (MPC, slow) from torque control (QP-WBC, fast) is the dominant design pattern in state-of-the-art systems (ANYmal, Atlas, HRP-5P).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248716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Sleiman 2021 · Bellicoso 2018 · Murooka 2021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402336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9232"/>
            <a:ext cx="64008" cy="17190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090672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Contact-Consistent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438144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WBC must explicitly satisfy contact constraints (no-slip, normal force cone). Violating these leads to unstable falls regardless of motion quality.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43708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Hutter 2016 · Kim 2019 · Escande 2014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44568" y="2999232"/>
            <a:ext cx="402336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44568" y="2999232"/>
            <a:ext cx="64008" cy="17190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90672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Fidelity Gap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438144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best efforts, sim-to-real gap remains the main open problem. No systematic methodology has been established to quantify it across platforms.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43708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2018 · Hwangbo 2019 · ASAP 2025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Reproducibility Crisis in WBC Benchmarking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WBC papers use the same evaluation protocol. This makes comparing results across systems scientifically meaningless.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19456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252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2252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170432"/>
            <a:ext cx="123444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225296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170432"/>
            <a:ext cx="14173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225296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170432"/>
            <a:ext cx="137160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22529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1170432"/>
            <a:ext cx="1188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122529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609344"/>
            <a:ext cx="219456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6642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TSID (Carpentier 2018)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68880" y="1609344"/>
            <a:ext cx="11887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6642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HRP-2 / TALOS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0" y="1609344"/>
            <a:ext cx="123444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1664208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(real)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1609344"/>
            <a:ext cx="14173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1664208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walking task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1609344"/>
            <a:ext cx="1371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66420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680960" y="1609344"/>
            <a:ext cx="11887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166420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 code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048256"/>
            <a:ext cx="219456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1031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OCS2 (Sleiman 2021)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0" y="2048256"/>
            <a:ext cx="11887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23744" y="21031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ANYmal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0" y="2048256"/>
            <a:ext cx="123444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21031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2048256"/>
            <a:ext cx="14173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210312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scenes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2048256"/>
            <a:ext cx="137160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2103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680960" y="2048256"/>
            <a:ext cx="11887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35824" y="21031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no URDF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2487168"/>
            <a:ext cx="219456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254203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 (2025)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68880" y="2487168"/>
            <a:ext cx="11887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23744" y="25420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G1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0" y="2487168"/>
            <a:ext cx="123444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12464" y="254203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92040" y="2487168"/>
            <a:ext cx="14173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25420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agility task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09360" y="2487168"/>
            <a:ext cx="137160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25420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680960" y="2487168"/>
            <a:ext cx="118872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35824" y="254203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closed source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2926080"/>
            <a:ext cx="219456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29809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Radosavovic (2024)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468880" y="2926080"/>
            <a:ext cx="11887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23744" y="298094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H1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57600" y="2926080"/>
            <a:ext cx="123444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12464" y="2980944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92040" y="2926080"/>
            <a:ext cx="14173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46904" y="2980944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locomotion tasks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09360" y="2926080"/>
            <a:ext cx="137160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298094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stability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680960" y="2926080"/>
            <a:ext cx="1188720" cy="438912"/>
          </a:xfrm>
          <a:prstGeom prst="rect">
            <a:avLst/>
          </a:prstGeom>
          <a:solidFill>
            <a:srgbClr val="0D2235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35824" y="298094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 env config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3364992"/>
            <a:ext cx="219456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" y="341985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468880" y="3364992"/>
            <a:ext cx="118872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23744" y="34198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0" y="3364992"/>
            <a:ext cx="123444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12464" y="3419856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(open)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92040" y="3364992"/>
            <a:ext cx="141732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46904" y="3419856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S1-S5 (5 levels)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309360" y="3364992"/>
            <a:ext cx="137160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4224" y="341985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Force, balance, gait, push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680960" y="3364992"/>
            <a:ext cx="1188720" cy="438912"/>
          </a:xfrm>
          <a:prstGeom prst="rect">
            <a:avLst/>
          </a:prstGeom>
          <a:solidFill>
            <a:srgbClr val="0077B6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35824" y="34198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full pipeline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65760" y="43891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row is our contribution: a standardized, open, 5-scenario evaluation protocol for TALOS in MuJoCo.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 1 — Which Robot?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considered and rejected: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657600" cy="676656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6766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(Aldebaran)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4356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 DoF, no torque control — WBC not applicable.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3657600" cy="676656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65376"/>
            <a:ext cx="54864" cy="6766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(SoftBank)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18541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legs, designed for social interaction, not dynamics.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3657600" cy="676656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15184"/>
            <a:ext cx="54864" cy="6766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70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HRP-2 (Kawada)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9352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URDF, no active Pinocchio support, discontinued.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3657600" cy="676656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64992"/>
            <a:ext cx="54864" cy="67665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9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URDF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6850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robot from scratch is a separate thesis.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96512" y="2578608"/>
            <a:ext cx="457200" cy="0"/>
          </a:xfrm>
          <a:prstGeom prst="line">
            <a:avLst/>
          </a:prstGeom>
          <a:noFill/>
          <a:ln w="3175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078992"/>
            <a:ext cx="4160520" cy="3182112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508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(PAL Robotics)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15727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32 DoF, full torque-controlled body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173736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385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Open-source URDF + MuJoCo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28032" y="210312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3042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Pinocchio-compatible (TSID integration)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28032" y="246888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7004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Active research community (LAAS-CNRS)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283464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358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Designed specifically for WBC research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320040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015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Realistic mass / inertia properties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28032" y="3566160"/>
            <a:ext cx="731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 2 — Which Simulator?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must handle rigid-body dynamics, contact forces, and high DoF systems in real time — and be freely available to the research community.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14173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161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170432"/>
            <a:ext cx="15087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1216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Solver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170432"/>
            <a:ext cx="1371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16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Speed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170432"/>
            <a:ext cx="13716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216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Support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170432"/>
            <a:ext cx="11887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216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8040" y="1170432"/>
            <a:ext cx="12344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12161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517904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6093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37360" y="1517904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01368" y="1609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(inaccurate)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151790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6093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(~100 ms/step)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51790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6093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MJCF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1517904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6093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78040" y="1517904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6093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1993392"/>
            <a:ext cx="14173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084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37360" y="1993392"/>
            <a:ext cx="15087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01368" y="20848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(moderate)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1993392"/>
            <a:ext cx="1371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1993392"/>
            <a:ext cx="1371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URDF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1993392"/>
            <a:ext cx="11887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1993392"/>
            <a:ext cx="12344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20848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2468880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2560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468880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01368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solver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246888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246888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89320" y="2468880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78040" y="2468880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2560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2944368"/>
            <a:ext cx="14173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30358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Gym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737360" y="2944368"/>
            <a:ext cx="150876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01368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PhysX (fast)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46120" y="2944368"/>
            <a:ext cx="1371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0128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(GPU)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17720" y="2944368"/>
            <a:ext cx="1371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81728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access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89320" y="2944368"/>
            <a:ext cx="11887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53328" y="3035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2944368"/>
            <a:ext cx="12344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42048" y="30358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3419856"/>
            <a:ext cx="141732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3511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737360" y="3419856"/>
            <a:ext cx="150876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01368" y="35112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46120" y="3419856"/>
            <a:ext cx="13716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0128" y="35112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Sub-ms per step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17720" y="3419856"/>
            <a:ext cx="13716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81728" y="35112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MJCF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989320" y="3419856"/>
            <a:ext cx="118872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53328" y="35112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since 2022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78040" y="3419856"/>
            <a:ext cx="123444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42048" y="351129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open-sourced MuJoCo in 2022. It is now the de-facto standard for legged robot simulation research.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 3 — The Two-Layer Control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1298448"/>
            <a:ext cx="1298448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2984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References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(motion goals)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63040" y="1453896"/>
            <a:ext cx="164592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2468880"/>
            <a:ext cx="1298448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4688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(sensors)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2624328"/>
            <a:ext cx="164592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7632" y="1170432"/>
            <a:ext cx="2331720" cy="960120"/>
          </a:xfrm>
          <a:prstGeom prst="rect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19072" y="12435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MPC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19072" y="15544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Hz · Crocoddyl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19072" y="17739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CoM trajectory + contact forces over horizon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93492" y="2130552"/>
            <a:ext cx="0" cy="21031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9132" y="21488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traj. + contact refs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27632" y="2340864"/>
            <a:ext cx="2331720" cy="960120"/>
          </a:xfrm>
          <a:prstGeom prst="rect">
            <a:avLst/>
          </a:prstGeom>
          <a:solidFill>
            <a:srgbClr val="0D9488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19072" y="241401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 Whole-Body Controller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19072" y="2724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kHz · Pinocchio + TSID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19072" y="29443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joint torques satisfying all constraints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93492" y="3300984"/>
            <a:ext cx="0" cy="19202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90572" y="3319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torques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27632" y="3493008"/>
            <a:ext cx="2331720" cy="960120"/>
          </a:xfrm>
          <a:prstGeom prst="rect">
            <a:avLst/>
          </a:prstGeom>
          <a:solidFill>
            <a:srgbClr val="1A3A5C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19072" y="3566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in MuJoCo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19072" y="38770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DoF · Sub-ms physics steps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19072" y="4096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states &amp; contact forces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95928" y="3973068"/>
            <a:ext cx="112471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120640" y="1650492"/>
            <a:ext cx="0" cy="2322576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995928" y="1650492"/>
            <a:ext cx="112471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175504" y="26106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53328" y="1170432"/>
            <a:ext cx="2926080" cy="2487168"/>
          </a:xfrm>
          <a:prstGeom prst="rect">
            <a:avLst/>
          </a:prstGeom>
          <a:solidFill>
            <a:srgbClr val="EEF2F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Insight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0488" y="1572768"/>
            <a:ext cx="256032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16642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separation: MPC plans at ~100 Hz; WBC executes at ~1 kHz.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0488" y="21396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has a receding horizon: it looks ahead and adjusts contacts proactively.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0488" y="261518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is reactive: it enforces all constraints at the torque level in real time.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look-ahead planning + constraint-safe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 4 — A Reproducible Evaluation Protocol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949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testing on arbitrary tasks, we define 5 standardized scenarios of increasing complexity — enabling fair comparison with any future system.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170078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0824" y="1152144"/>
            <a:ext cx="1700784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1608" y="1152144"/>
            <a:ext cx="170078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2392" y="1152144"/>
            <a:ext cx="1700784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23176" y="1152144"/>
            <a:ext cx="170078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178040" y="11521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--&gt;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444752"/>
            <a:ext cx="1618488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444752"/>
            <a:ext cx="161848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630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Baseline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79222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194560"/>
            <a:ext cx="1435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still on flat ground with disturbances. Validates basic WBC stability and constraint satisfaction.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255264"/>
            <a:ext cx="1435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10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93008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deviation, joint effort, contact forces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011680" y="1444752"/>
            <a:ext cx="1618488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1444752"/>
            <a:ext cx="161848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14630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Standard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179222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Walking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2194560"/>
            <a:ext cx="1435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bipedal gait on flat terrain. Validates gait generation, contact switching, and dynamic stability.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03120" y="3255264"/>
            <a:ext cx="1435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3310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493008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tracking, gait symmetry, step frequency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03320" y="1444752"/>
            <a:ext cx="1618488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1444752"/>
            <a:ext cx="1618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4630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Moderate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94760" y="179222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Recovery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94760" y="2194560"/>
            <a:ext cx="1435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impulse applied to torso. Validates the reactive recovery capabilities of the WBC.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94760" y="3255264"/>
            <a:ext cx="1435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10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94760" y="3493008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time, max impulse tolerated, fall rate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394960" y="1444752"/>
            <a:ext cx="1618488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94960" y="1444752"/>
            <a:ext cx="16184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14630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Hard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179222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 Climbing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2194560"/>
            <a:ext cx="1435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a standard staircase. Validates foot placement accuracy and non-flat contact management.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0" y="3255264"/>
            <a:ext cx="1435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310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0" y="3493008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success rate, foothold error, clearance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86600" y="1444752"/>
            <a:ext cx="1618488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86600" y="1444752"/>
            <a:ext cx="1618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146304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Expert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8040" y="1792224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Loco-Manipulation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78040" y="2194560"/>
            <a:ext cx="1435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while carrying and placing an object. Validates whole-body multi-task coordination.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178040" y="3255264"/>
            <a:ext cx="1435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331012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178040" y="3493008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success, end-effector tracking, gait quality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Gaps This Thesis Addresses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gaps motivate the specific contributions of this work: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8503920" cy="1261872"/>
          </a:xfrm>
          <a:prstGeom prst="rect">
            <a:avLst/>
          </a:prstGeom>
          <a:solidFill>
            <a:srgbClr val="0A152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33856"/>
            <a:ext cx="822960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33856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61872" y="12252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Evaluation Protocol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61872" y="153619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WBC paper defines its own tasks and metrics. There is no standard benchmark for humanoid WBC — making results incomparable across systems, robots, and simulators. This prevents the field from converging on best practices.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243584"/>
            <a:ext cx="2743200" cy="1042416"/>
          </a:xfrm>
          <a:prstGeom prst="rect">
            <a:avLst/>
          </a:prstGeom>
          <a:solidFill>
            <a:srgbClr val="0A20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98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0" y="151790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the first 5-scenario protocol (S1–S5) with explicit metrics and open MuJoCo environments for TALOS.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8503920" cy="1261872"/>
          </a:xfrm>
          <a:prstGeom prst="rect">
            <a:avLst/>
          </a:prstGeom>
          <a:solidFill>
            <a:srgbClr val="0A152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68880"/>
            <a:ext cx="82296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61872" y="25603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Open Two-Layer Implementation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61872" y="287121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two-layer MPC+WBC is widely accepted as the best architecture, no open, well-documented implementation exists for TALOS. Existing implementations are either proprietary (Boston Dynamics, Sony) or robot-specific (ANYmal with ANYbotics stack).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2578608"/>
            <a:ext cx="2743200" cy="1042416"/>
          </a:xfrm>
          <a:prstGeom prst="rect">
            <a:avLst/>
          </a:prstGeom>
          <a:solidFill>
            <a:srgbClr val="0A203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633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85292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 a fully open, modular MPC+QP-WBC stack for TALOS in MuJoCo — usable by any future researcher or team member.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8503920" cy="1261872"/>
          </a:xfrm>
          <a:prstGeom prst="rect">
            <a:avLst/>
          </a:prstGeom>
          <a:solidFill>
            <a:srgbClr val="0A152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03904"/>
            <a:ext cx="82296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03904"/>
            <a:ext cx="822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61872" y="38953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Reusable Foundation for Long-Term Projects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61872" y="42062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multi-year research programs, Year 1 typically produces a working demo that Year 2 cannot extend. There is no published methodology for building simulation infrastructure that survives across research generations.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3913632"/>
            <a:ext cx="2743200" cy="1042416"/>
          </a:xfrm>
          <a:prstGeom prst="rect">
            <a:avLst/>
          </a:prstGeom>
          <a:solidFill>
            <a:srgbClr val="0A203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9684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35040" y="418795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architect this framework as a reusable foundation: documented API, modular controllers, and scenario configs that future teams can extend rather than rebuild.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Openings — What This Thesis Enables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delivering a reproducible simulation foundation, this thesis creates structured entry points for subsequent research phases: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1353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658368" cy="13533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2618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 on Established Infrastructure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1591056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learning-based policies: the S1–S5 protocol serves as a common eval harness for RL methods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1883664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control: terrain estimation and real-time gait adaptation on top of the existing QP-WBC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217627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planning: extend MPC to non-coplanar contact configurations (walls, objects)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135331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33472"/>
            <a:ext cx="65836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33472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27249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Transfer with Quantified Gap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15568" y="3054096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S1–S5 benchmarks to measure sim-to-real transfer fidelity on real TALOS hardware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" y="3346704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randomization: the open MuJoCo scenes support systematic parameter randomization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" y="363931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API enables hardware team to replace the MuJoCo interface with real hardware drivers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8503920" cy="135331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096512"/>
            <a:ext cx="658368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96512"/>
            <a:ext cx="6583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41879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Tasks &amp; Long-Horizon Planning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15568" y="4517136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 layer above MPC: semantic scene understanding + motion primitive sequencing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" y="4809744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guarantees: formal verification on top of the existing constraint-based WBC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" y="5102352"/>
            <a:ext cx="7516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coordination: the modular architecture supports extending to team scenarios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Completed: April 13 — May 5,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me to conduct the literature review for Chapter 2. Here is what was delivered: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61888" y="676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76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61888" y="896112"/>
            <a:ext cx="283464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969264"/>
            <a:ext cx="848563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33856"/>
            <a:ext cx="38404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338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68096" y="1042416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Chapter 2: State of the 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1316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13 – Apr 28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8096" y="1463040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papers reviewed across 3 WBC paradigms (QP-WBC, MPC+WBC, RL-WBC). Four research gaps identified. ~7,000-word draft completed.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61888" y="1188720"/>
            <a:ext cx="1932709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682496"/>
            <a:ext cx="8485632" cy="676656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847088"/>
            <a:ext cx="38404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470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68096" y="1755648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Positioning of WBC Approaches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8096" y="2029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13 – Apr 28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2176272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ZMP-based, centroidal-dynamics, and optimization-based controllers. Positioned TALOS+MPC+QP-WBC as the optimal design choice for this project.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61888" y="1901952"/>
            <a:ext cx="1932709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395728"/>
            <a:ext cx="848563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560320"/>
            <a:ext cx="38404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603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768096" y="2468880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Architectural Decisions — Locked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8096" y="2743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 – May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" y="2889504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TALOS · Simulator: MuJoCo · Architecture: MPC+QP-WBC · Evaluation: S1–S5 protocol · Scope: simulation-first. All documented and ready for Ch.3.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94597" y="2615184"/>
            <a:ext cx="901931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236976"/>
            <a:ext cx="8485632" cy="548640"/>
          </a:xfrm>
          <a:prstGeom prst="rect">
            <a:avLst/>
          </a:prstGeom>
          <a:solidFill>
            <a:srgbClr val="ECFDF5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36976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34440" y="33284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literature review complete. Theoretical foundation established. Architectural decisions locked. Ready to begin implementation (Ch.3) on May 6.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Timeline: April 13 — August 26,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749808"/>
            <a:ext cx="0" cy="4078224"/>
          </a:xfrm>
          <a:prstGeom prst="line">
            <a:avLst/>
          </a:prstGeom>
          <a:noFill/>
          <a:ln w="8890">
            <a:solidFill>
              <a:srgbClr val="1A3A5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523744" y="749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81680" y="749808"/>
            <a:ext cx="0" cy="4078224"/>
          </a:xfrm>
          <a:prstGeom prst="line">
            <a:avLst/>
          </a:prstGeom>
          <a:noFill/>
          <a:ln w="8890">
            <a:solidFill>
              <a:srgbClr val="1A3A5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318256" y="749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0496" y="749808"/>
            <a:ext cx="0" cy="4078224"/>
          </a:xfrm>
          <a:prstGeom prst="line">
            <a:avLst/>
          </a:prstGeom>
          <a:noFill/>
          <a:ln w="8890">
            <a:solidFill>
              <a:srgbClr val="1A3A5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67072" y="749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32576" y="749808"/>
            <a:ext cx="0" cy="4078224"/>
          </a:xfrm>
          <a:prstGeom prst="line">
            <a:avLst/>
          </a:prstGeom>
          <a:noFill/>
          <a:ln w="8890">
            <a:solidFill>
              <a:srgbClr val="1A3A5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69152" y="749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1392" y="749808"/>
            <a:ext cx="0" cy="4078224"/>
          </a:xfrm>
          <a:prstGeom prst="line">
            <a:avLst/>
          </a:prstGeom>
          <a:noFill/>
          <a:ln w="8890">
            <a:solidFill>
              <a:srgbClr val="1A3A5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617968" y="749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15360" y="749808"/>
            <a:ext cx="0" cy="407822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2480" y="7680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7160" y="98755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Literature 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87168" y="1033272"/>
            <a:ext cx="79451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033272"/>
            <a:ext cx="72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" y="12618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Audit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54528" y="1307592"/>
            <a:ext cx="32715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9392" y="1307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1536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88208" y="1581912"/>
            <a:ext cx="32715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3072" y="1581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37160" y="18105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+ Thesis Structure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81680" y="1856232"/>
            <a:ext cx="2336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6544" y="1856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7160" y="20848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Introduction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15360" y="2130552"/>
            <a:ext cx="70104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235915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Methodology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15360" y="2404872"/>
            <a:ext cx="93472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26334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Setup + CI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15360" y="2679192"/>
            <a:ext cx="140208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29077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Sim Setup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16400" y="2953512"/>
            <a:ext cx="1215136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3182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 Implementation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31536" y="3227832"/>
            <a:ext cx="116840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" y="34564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S4–S5 Implementation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66256" y="3502152"/>
            <a:ext cx="93472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373075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Ch.4–5 Results + Analysis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99936" y="3776472"/>
            <a:ext cx="1261872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40050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Ch.6–7 Discussion + Conc.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87920" y="4050792"/>
            <a:ext cx="70104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2793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+ Buffer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88960" y="4325112"/>
            <a:ext cx="607568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" y="4736592"/>
            <a:ext cx="20116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7183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737360" y="4736592"/>
            <a:ext cx="201168" cy="1280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93392" y="4718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4800600"/>
            <a:ext cx="20116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30168" y="47183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(May 5)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 Today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983480"/>
            <a:ext cx="85039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· WBC Humanoid · David ·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meeting has three objectives. Your input on each will directly shape the next phase of the project: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8503920" cy="1115568"/>
          </a:xfrm>
          <a:prstGeom prst="rect">
            <a:avLst/>
          </a:prstGeom>
          <a:solidFill>
            <a:srgbClr val="0A152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6692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15568"/>
            <a:ext cx="566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Research Question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153619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refined research question — MPC+QP-WBC on TALOS, evaluated via S1–S5 in MuJoCo — correctly scope the contribution expected for a Master's thesis in this programme?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Is the scope appropriate (not too narrow, not too broad)? Are there aspects of the problem you would reframe?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8503920" cy="1115568"/>
          </a:xfrm>
          <a:prstGeom prst="rect">
            <a:avLst/>
          </a:prstGeom>
          <a:solidFill>
            <a:srgbClr val="0A152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22576"/>
            <a:ext cx="56692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22576"/>
            <a:ext cx="566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Architecture Choices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selected Crocoddyl (centroidal MPC), Pinocchio+TSID (QP-WBC), MuJoCo, and TALOS. Are there alternative choices you believe we should reconsider before committing to implementation?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218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Specific concerns about any of the four technical choices? Alternative tools or robots you prefer?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8503920" cy="1115568"/>
          </a:xfrm>
          <a:prstGeom prst="rect">
            <a:avLst/>
          </a:prstGeom>
          <a:solidFill>
            <a:srgbClr val="0A1520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29584"/>
            <a:ext cx="56692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29584"/>
            <a:ext cx="5669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6210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Timeline and Milestones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5840" y="395020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begins immediately after this meeting (May 5). The S1–S3 experiments target June–July; S4–S5 and writing target July–August. Is this realistic given the programme schedule?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44256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Are there dependencies, conflicts, or resources we have not accounted for?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834640" cy="5088636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1031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70078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Humanoid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01168"/>
            <a:ext cx="402336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01168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56432" y="26517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Year 1 of 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6432" y="5486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the reusable simulation foundation for an entire university programme — generality is a requirement, not an option.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024128"/>
            <a:ext cx="402336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024128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6432" y="108813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validated by literature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56432" y="137160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+ QP-WBC is the field-consensus best pattern. TALOS + MuJoCo is the optimal platform choice for open, reproducible research.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1847088"/>
            <a:ext cx="402336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847088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56432" y="191109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the core contribution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56432" y="21945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S1–S5 evaluation protocol and open MuJoCo environment are the primary scientific deliverables — not just a working controller.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71800" y="2670048"/>
            <a:ext cx="402336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70048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56432" y="273405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research gaps are addressed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56432" y="301752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benchmarking, open two-layer implementation for TALOS, and reusable programme infrastructure — all currently missing from the literature.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71800" y="3493008"/>
            <a:ext cx="402336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493008"/>
            <a:ext cx="4023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56432" y="355701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starts May 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56432" y="384048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setup (Ch.3), GitHub CI, and S1–S2 experiments are the immediate next milestones. Results expected by end of June.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80E18"/>
          </a:solidFill>
          <a:ln w="12700">
            <a:solidFill>
              <a:srgbClr val="080E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92624"/>
            <a:ext cx="8503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 welcome.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WBC Humanoid — Full Thesis Presentation</dc:title>
  <dc:subject>PptxGenJS Presentation</dc:subject>
  <dc:creator>David</dc:creator>
  <cp:lastModifiedBy>David</cp:lastModifiedBy>
  <cp:revision>1</cp:revision>
  <dcterms:created xsi:type="dcterms:W3CDTF">2026-04-30T18:46:20Z</dcterms:created>
  <dcterms:modified xsi:type="dcterms:W3CDTF">2026-04-30T18:46:20Z</dcterms:modified>
</cp:coreProperties>
</file>